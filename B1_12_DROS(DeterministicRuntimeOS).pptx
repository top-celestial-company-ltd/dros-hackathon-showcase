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67" r:id="rId5"/>
    <p:sldId id="259" r:id="rId6"/>
    <p:sldId id="265" r:id="rId7"/>
    <p:sldId id="261" r:id="rId8"/>
    <p:sldId id="260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723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15C88A33-9A57-D59F-C85E-667580CFE3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3D41091-ED63-0F67-8C04-C3845BF0A9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BCE9F8-5A4F-432F-A074-BBD7C491C249}" type="datetimeFigureOut">
              <a:rPr lang="zh-TW" altLang="en-US" smtClean="0"/>
              <a:t>2026/8/30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818E36E-C6E8-FFD2-E319-BFC5ADDEC1C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A01CDE1-F80E-352E-27F5-42306546D7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525396-C467-40E2-8959-C85C0D4A10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650385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030B4-19F3-46AC-873E-939BE541C553}" type="datetimeFigureOut">
              <a:rPr lang="zh-TW" altLang="en-US" smtClean="0"/>
              <a:t>2026/8/30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22297E-2E8B-4D88-B76E-683EA03EEC0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868082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r-os.io/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rPr dirty="0"/>
              <a:t>TRUSTWORTHY AI HACKATHON 2026  |  FLAGSHIP PRESENTATION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rPr dirty="0"/>
              <a:t>DROS: Deterministic Runtime Operating System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rPr dirty="0" err="1"/>
              <a:t>針對</a:t>
            </a:r>
            <a:r>
              <a:rPr dirty="0"/>
              <a:t> AI Agent </a:t>
            </a:r>
            <a:r>
              <a:rPr dirty="0" err="1"/>
              <a:t>執行期的確定性治理作業系統微內核</a:t>
            </a:r>
            <a:r>
              <a:rPr dirty="0"/>
              <a:t> (C-ABI </a:t>
            </a:r>
            <a:r>
              <a:rPr dirty="0" err="1"/>
              <a:t>帶內硬防禦</a:t>
            </a:r>
            <a:r>
              <a:rPr dirty="0"/>
              <a:t>)</a:t>
            </a:r>
            <a:endParaRPr lang="en-US" dirty="0"/>
          </a:p>
          <a:p>
            <a:pPr>
              <a:defRPr sz="1600">
                <a:solidFill>
                  <a:srgbClr val="CBD5E1"/>
                </a:solidFill>
              </a:defRPr>
            </a:pPr>
            <a:endParaRPr lang="en-US" sz="800" dirty="0"/>
          </a:p>
          <a:p>
            <a:pPr>
              <a:defRPr sz="1600">
                <a:solidFill>
                  <a:srgbClr val="CBD5E1"/>
                </a:solidFill>
              </a:defRPr>
            </a:pPr>
            <a:endParaRPr lang="en-US" sz="800" dirty="0"/>
          </a:p>
          <a:p>
            <a:pPr>
              <a:defRPr sz="1600">
                <a:solidFill>
                  <a:srgbClr val="CBD5E1"/>
                </a:solidFill>
              </a:defRPr>
            </a:pPr>
            <a:endParaRPr lang="en-US" sz="800" dirty="0"/>
          </a:p>
          <a:p>
            <a:pPr algn="ctr">
              <a:defRPr sz="2200" b="1">
                <a:solidFill>
                  <a:srgbClr val="38BDF8"/>
                </a:solidFill>
              </a:defRPr>
            </a:pPr>
            <a:r>
              <a:rPr lang="en-US" altLang="zh-TW" sz="1600" b="1" i="0" dirty="0">
                <a:solidFill>
                  <a:schemeClr val="bg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We bind Identity, Authority, Execution, </a:t>
            </a:r>
            <a:r>
              <a:rPr lang="en-US" altLang="zh-TW" sz="1600" b="1" i="0" dirty="0" err="1">
                <a:solidFill>
                  <a:schemeClr val="bg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Crystography</a:t>
            </a:r>
            <a:r>
              <a:rPr lang="en-US" altLang="zh-TW" sz="1600" b="1" i="0" dirty="0">
                <a:solidFill>
                  <a:schemeClr val="bg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and Audit </a:t>
            </a:r>
          </a:p>
          <a:p>
            <a:pPr algn="ctr">
              <a:defRPr sz="2200" b="1">
                <a:solidFill>
                  <a:srgbClr val="38BDF8"/>
                </a:solidFill>
              </a:defRPr>
            </a:pPr>
            <a:r>
              <a:rPr lang="en-US" altLang="zh-TW" sz="1600" b="1" i="0" dirty="0">
                <a:solidFill>
                  <a:schemeClr val="bg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together at the choke point C-ABI with CPU instruction.</a:t>
            </a:r>
            <a:endParaRPr lang="en-US" altLang="zh-TW" sz="1600" b="1" dirty="0"/>
          </a:p>
        </p:txBody>
      </p:sp>
      <p:sp>
        <p:nvSpPr>
          <p:cNvPr id="4" name="Rounded Rectangle 3"/>
          <p:cNvSpPr/>
          <p:nvPr/>
        </p:nvSpPr>
        <p:spPr>
          <a:xfrm>
            <a:off x="731519" y="2651757"/>
            <a:ext cx="10728655" cy="3713018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rPr sz="2800" dirty="0"/>
              <a:t>🏛️ DROS </a:t>
            </a:r>
            <a:r>
              <a:rPr lang="zh-TW" altLang="en-US" sz="2800" dirty="0"/>
              <a:t>治理：前提與後路</a:t>
            </a:r>
            <a:r>
              <a:rPr lang="en-US" altLang="zh-TW" sz="2800" dirty="0"/>
              <a:t>(</a:t>
            </a:r>
            <a:r>
              <a:rPr lang="zh-TW" altLang="en-US" sz="2800" dirty="0"/>
              <a:t>生存</a:t>
            </a:r>
            <a:r>
              <a:rPr lang="en-US" altLang="zh-TW" sz="2800" dirty="0"/>
              <a:t>)</a:t>
            </a:r>
          </a:p>
          <a:p>
            <a:pPr algn="ctr">
              <a:defRPr sz="1800" b="1">
                <a:solidFill>
                  <a:srgbClr val="38BDF8"/>
                </a:solidFill>
              </a:defRPr>
            </a:pPr>
            <a:endParaRPr dirty="0"/>
          </a:p>
          <a:p>
            <a:pPr>
              <a:defRPr sz="1500" b="1">
                <a:solidFill>
                  <a:srgbClr val="4ADE80"/>
                </a:solidFill>
              </a:defRPr>
            </a:pPr>
            <a:r>
              <a:rPr sz="2000" dirty="0" err="1">
                <a:latin typeface="Gen Jyuu Gothic LP Heavy" panose="020B0702020203020207" pitchFamily="34" charset="-120"/>
                <a:ea typeface="Gen Jyuu Gothic LP Heavy" panose="020B0702020203020207" pitchFamily="34" charset="-120"/>
                <a:cs typeface="Gen Jyuu Gothic LP Heavy" panose="020B0702020203020207" pitchFamily="34" charset="-120"/>
              </a:rPr>
              <a:t>一</a:t>
            </a:r>
            <a:r>
              <a:rPr sz="2000" dirty="0" err="1"/>
              <a:t>（前提與海闊天空</a:t>
            </a:r>
            <a:r>
              <a:rPr sz="2000" dirty="0"/>
              <a:t>）：</a:t>
            </a:r>
          </a:p>
          <a:p>
            <a:pPr>
              <a:defRPr sz="1550">
                <a:solidFill>
                  <a:srgbClr val="F8FAFC"/>
                </a:solidFill>
              </a:defRPr>
            </a:pPr>
            <a:r>
              <a:rPr sz="2000" dirty="0"/>
              <a:t>「</a:t>
            </a:r>
            <a:r>
              <a:rPr sz="2000" dirty="0" err="1"/>
              <a:t>治理是前提，而不是補丁。唯有在系統底層先完成</a:t>
            </a:r>
            <a:r>
              <a:rPr lang="zh-TW" altLang="en-US" sz="2000" dirty="0"/>
              <a:t>「</a:t>
            </a:r>
            <a:r>
              <a:rPr sz="2000" dirty="0" err="1"/>
              <a:t>確定性的執行閉環</a:t>
            </a:r>
            <a:r>
              <a:rPr lang="zh-TW" altLang="en-US" sz="2000" dirty="0"/>
              <a:t>」</a:t>
            </a:r>
            <a:r>
              <a:rPr sz="2000" dirty="0"/>
              <a:t>，</a:t>
            </a:r>
            <a:r>
              <a:rPr sz="2000" dirty="0" err="1"/>
              <a:t>再去對接應用層；才能在守住安全底線的同時，讓整個</a:t>
            </a:r>
            <a:r>
              <a:rPr sz="2000" dirty="0"/>
              <a:t> AI </a:t>
            </a:r>
            <a:r>
              <a:rPr sz="2000" dirty="0" err="1"/>
              <a:t>應用層真正海闊天空</a:t>
            </a:r>
            <a:r>
              <a:rPr sz="2000" dirty="0"/>
              <a:t>！」</a:t>
            </a:r>
            <a:endParaRPr lang="en-US" sz="2000" dirty="0"/>
          </a:p>
          <a:p>
            <a:pPr>
              <a:defRPr sz="1550">
                <a:solidFill>
                  <a:srgbClr val="F8FAFC"/>
                </a:solidFill>
              </a:defRPr>
            </a:pPr>
            <a:endParaRPr dirty="0"/>
          </a:p>
          <a:p>
            <a:pPr>
              <a:defRPr sz="1500" b="1">
                <a:solidFill>
                  <a:srgbClr val="C084FC"/>
                </a:solidFill>
              </a:defRPr>
            </a:pPr>
            <a:r>
              <a:rPr lang="zh-TW" altLang="en-US" sz="2000" dirty="0">
                <a:ea typeface="Gen Jyuu Gothic LP Heavy" panose="020B0702020203020207" pitchFamily="34" charset="-120"/>
                <a:cs typeface="Gen Jyuu Gothic LP Heavy" panose="020B0702020203020207" pitchFamily="34" charset="-120"/>
              </a:rPr>
              <a:t>一</a:t>
            </a:r>
            <a:r>
              <a:rPr sz="2000" dirty="0"/>
              <a:t>（</a:t>
            </a:r>
            <a:r>
              <a:rPr sz="2000" dirty="0" err="1"/>
              <a:t>海量與高頻存活</a:t>
            </a:r>
            <a:r>
              <a:rPr sz="2000" dirty="0"/>
              <a:t>）：</a:t>
            </a:r>
          </a:p>
          <a:p>
            <a:pPr>
              <a:defRPr sz="1550">
                <a:solidFill>
                  <a:srgbClr val="F8FAFC"/>
                </a:solidFill>
              </a:defRPr>
            </a:pPr>
            <a:r>
              <a:rPr sz="2000" dirty="0"/>
              <a:t>「</a:t>
            </a:r>
            <a:r>
              <a:rPr sz="2000" dirty="0" err="1"/>
              <a:t>治理的對象是</a:t>
            </a:r>
            <a:r>
              <a:rPr sz="2000" dirty="0"/>
              <a:t> </a:t>
            </a:r>
            <a:r>
              <a:rPr sz="2000" dirty="0" err="1"/>
              <a:t>Agent。面對每秒數萬次的高頻</a:t>
            </a:r>
            <a:r>
              <a:rPr sz="2000" dirty="0"/>
              <a:t> Tool Call 與海量代理併發，治理機制自己必須先能以微秒級延遲（26.1 </a:t>
            </a:r>
            <a:r>
              <a:rPr sz="2000" dirty="0" err="1"/>
              <a:t>μs</a:t>
            </a:r>
            <a:r>
              <a:rPr sz="2000" dirty="0"/>
              <a:t>）、</a:t>
            </a:r>
            <a:r>
              <a:rPr sz="2000" dirty="0" err="1"/>
              <a:t>零記憶體開銷存活下來，這更是確定性治理的第一前提</a:t>
            </a:r>
            <a:r>
              <a:rPr sz="2000" dirty="0"/>
              <a:t>。」</a:t>
            </a:r>
            <a:endParaRPr lang="en-US" sz="2000" dirty="0">
              <a:solidFill>
                <a:srgbClr val="FFC000"/>
              </a:solidFill>
            </a:endParaRPr>
          </a:p>
          <a:p>
            <a:pPr>
              <a:defRPr sz="1550">
                <a:solidFill>
                  <a:srgbClr val="F8FAFC"/>
                </a:solidFill>
              </a:defRPr>
            </a:pPr>
            <a:endParaRPr lang="en-US" dirty="0">
              <a:solidFill>
                <a:srgbClr val="FFC000"/>
              </a:solidFill>
            </a:endParaRPr>
          </a:p>
          <a:p>
            <a:pPr>
              <a:defRPr sz="1550">
                <a:solidFill>
                  <a:srgbClr val="F8FAFC"/>
                </a:solidFill>
              </a:defRPr>
            </a:pPr>
            <a:endParaRPr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● 6-PILLARS FRAMEWORK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DROS 確定性 6P 治理閉環：從身分注入到動態撤銷的全生命週期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21892"/>
            <a:ext cx="3413455" cy="1657004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rPr dirty="0"/>
              <a:t>P1. Principal (</a:t>
            </a:r>
            <a:r>
              <a:rPr dirty="0" err="1"/>
              <a:t>執行主體</a:t>
            </a:r>
            <a:r>
              <a:rPr dirty="0"/>
              <a:t>)</a:t>
            </a:r>
            <a:endParaRPr lang="en-US" dirty="0"/>
          </a:p>
          <a:p>
            <a:pPr algn="ctr">
              <a:defRPr sz="1600" b="1">
                <a:solidFill>
                  <a:srgbClr val="38BDF8"/>
                </a:solidFill>
              </a:defRPr>
            </a:pPr>
            <a:endParaRPr dirty="0"/>
          </a:p>
          <a:p>
            <a:pPr>
              <a:defRPr sz="1400">
                <a:solidFill>
                  <a:srgbClr val="F8FAFC"/>
                </a:solidFill>
              </a:defRPr>
            </a:pPr>
            <a:r>
              <a:rPr dirty="0"/>
              <a:t>DIT Token </a:t>
            </a:r>
            <a:r>
              <a:rPr dirty="0" err="1"/>
              <a:t>加密身分注入，強綁定法人</a:t>
            </a:r>
            <a:r>
              <a:rPr dirty="0"/>
              <a:t> </a:t>
            </a:r>
            <a:r>
              <a:rPr dirty="0" err="1"/>
              <a:t>vLEI</a:t>
            </a:r>
            <a:r>
              <a:rPr dirty="0"/>
              <a:t> </a:t>
            </a:r>
            <a:r>
              <a:rPr dirty="0" err="1"/>
              <a:t>與自然人</a:t>
            </a:r>
            <a:r>
              <a:rPr dirty="0"/>
              <a:t> </a:t>
            </a:r>
            <a:r>
              <a:rPr dirty="0" err="1"/>
              <a:t>MyData</a:t>
            </a:r>
            <a:r>
              <a:rPr dirty="0"/>
              <a:t>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21892"/>
            <a:ext cx="3413455" cy="1657004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defRPr sz="1600" b="1">
                <a:solidFill>
                  <a:srgbClr val="4ADE80"/>
                </a:solidFill>
              </a:defRPr>
            </a:pPr>
            <a:r>
              <a:rPr dirty="0"/>
              <a:t>P2. Authorization (</a:t>
            </a:r>
            <a:r>
              <a:rPr dirty="0" err="1"/>
              <a:t>權限邊界</a:t>
            </a:r>
            <a:r>
              <a:rPr dirty="0"/>
              <a:t>)</a:t>
            </a:r>
            <a:endParaRPr lang="en-US" dirty="0"/>
          </a:p>
          <a:p>
            <a:pPr algn="ctr">
              <a:defRPr sz="1600" b="1">
                <a:solidFill>
                  <a:srgbClr val="4ADE80"/>
                </a:solidFill>
              </a:defRPr>
            </a:pPr>
            <a:endParaRPr dirty="0"/>
          </a:p>
          <a:p>
            <a:pPr>
              <a:defRPr sz="1400">
                <a:solidFill>
                  <a:srgbClr val="F8FAFC"/>
                </a:solidFill>
              </a:defRPr>
            </a:pPr>
            <a:r>
              <a:rPr dirty="0"/>
              <a:t>Zero-Heap Capability Bitmaps </a:t>
            </a:r>
            <a:r>
              <a:rPr dirty="0" err="1"/>
              <a:t>暫存器權限位元圖，嚴格鎖定</a:t>
            </a:r>
            <a:r>
              <a:rPr dirty="0"/>
              <a:t> Scope。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21892"/>
            <a:ext cx="3413455" cy="1657004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defRPr sz="1600" b="1">
                <a:solidFill>
                  <a:srgbClr val="F87171"/>
                </a:solidFill>
              </a:defRPr>
            </a:pPr>
            <a:r>
              <a:rPr dirty="0"/>
              <a:t>P3. Tool Bound (</a:t>
            </a:r>
            <a:r>
              <a:rPr dirty="0" err="1"/>
              <a:t>工具邊界</a:t>
            </a:r>
            <a:r>
              <a:rPr dirty="0"/>
              <a:t>)</a:t>
            </a:r>
            <a:endParaRPr lang="en-US" dirty="0"/>
          </a:p>
          <a:p>
            <a:pPr algn="ctr">
              <a:defRPr sz="1600" b="1">
                <a:solidFill>
                  <a:srgbClr val="F87171"/>
                </a:solidFill>
              </a:defRPr>
            </a:pPr>
            <a:endParaRPr dirty="0"/>
          </a:p>
          <a:p>
            <a:pPr>
              <a:defRPr sz="1400">
                <a:solidFill>
                  <a:srgbClr val="F8FAFC"/>
                </a:solidFill>
              </a:defRPr>
            </a:pPr>
            <a:r>
              <a:rPr dirty="0"/>
              <a:t>C-ABI </a:t>
            </a:r>
            <a:r>
              <a:rPr dirty="0" err="1"/>
              <a:t>二進位帶內閘門，未授權</a:t>
            </a:r>
            <a:r>
              <a:rPr dirty="0"/>
              <a:t> Tool Call </a:t>
            </a:r>
            <a:r>
              <a:rPr dirty="0" err="1"/>
              <a:t>物理阻斷無法繞過</a:t>
            </a:r>
            <a:r>
              <a:rPr dirty="0"/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30108"/>
            <a:ext cx="3413455" cy="1657004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defRPr sz="1600" b="1">
                <a:solidFill>
                  <a:srgbClr val="FBBF24"/>
                </a:solidFill>
              </a:defRPr>
            </a:pPr>
            <a:r>
              <a:rPr dirty="0"/>
              <a:t>P4. Policy Gate (</a:t>
            </a:r>
            <a:r>
              <a:rPr dirty="0" err="1"/>
              <a:t>執行門閥</a:t>
            </a:r>
            <a:r>
              <a:rPr dirty="0"/>
              <a:t>)</a:t>
            </a:r>
            <a:endParaRPr lang="en-US" dirty="0"/>
          </a:p>
          <a:p>
            <a:pPr algn="ctr">
              <a:defRPr sz="1600" b="1">
                <a:solidFill>
                  <a:srgbClr val="FBBF24"/>
                </a:solidFill>
              </a:defRPr>
            </a:pPr>
            <a:endParaRPr dirty="0"/>
          </a:p>
          <a:p>
            <a:pPr>
              <a:defRPr sz="1400">
                <a:solidFill>
                  <a:srgbClr val="F8FAFC"/>
                </a:solidFill>
              </a:defRPr>
            </a:pPr>
            <a:r>
              <a:rPr dirty="0"/>
              <a:t>26.1 </a:t>
            </a:r>
            <a:r>
              <a:rPr dirty="0" err="1"/>
              <a:t>μs</a:t>
            </a:r>
            <a:r>
              <a:rPr dirty="0"/>
              <a:t> </a:t>
            </a:r>
            <a:r>
              <a:rPr dirty="0" err="1"/>
              <a:t>帶內硬熔斷</a:t>
            </a:r>
            <a:r>
              <a:rPr dirty="0"/>
              <a:t> + </a:t>
            </a:r>
            <a:r>
              <a:rPr dirty="0" err="1"/>
              <a:t>機密</a:t>
            </a:r>
            <a:r>
              <a:rPr dirty="0"/>
              <a:t> Redact </a:t>
            </a:r>
            <a:r>
              <a:rPr dirty="0" err="1"/>
              <a:t>遮蔽</a:t>
            </a:r>
            <a:r>
              <a:rPr dirty="0"/>
              <a:t> + </a:t>
            </a:r>
            <a:r>
              <a:rPr dirty="0" err="1"/>
              <a:t>高風險</a:t>
            </a:r>
            <a:r>
              <a:rPr dirty="0"/>
              <a:t> HITL </a:t>
            </a:r>
            <a:r>
              <a:rPr dirty="0" err="1"/>
              <a:t>雙簽懸停</a:t>
            </a:r>
            <a:r>
              <a:rPr dirty="0"/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730108"/>
            <a:ext cx="3413455" cy="1657004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defRPr sz="1600" b="1">
                <a:solidFill>
                  <a:srgbClr val="C084FC"/>
                </a:solidFill>
              </a:defRPr>
            </a:pPr>
            <a:r>
              <a:rPr dirty="0"/>
              <a:t>P5. Audit Log (</a:t>
            </a:r>
            <a:r>
              <a:rPr dirty="0" err="1"/>
              <a:t>密碼學存證</a:t>
            </a:r>
            <a:r>
              <a:rPr dirty="0"/>
              <a:t>)</a:t>
            </a:r>
            <a:endParaRPr lang="en-US" dirty="0"/>
          </a:p>
          <a:p>
            <a:pPr algn="ctr">
              <a:defRPr sz="1600" b="1">
                <a:solidFill>
                  <a:srgbClr val="C084FC"/>
                </a:solidFill>
              </a:defRPr>
            </a:pPr>
            <a:endParaRPr dirty="0"/>
          </a:p>
          <a:p>
            <a:pPr>
              <a:defRPr sz="1400">
                <a:solidFill>
                  <a:srgbClr val="F8FAFC"/>
                </a:solidFill>
              </a:defRPr>
            </a:pPr>
            <a:r>
              <a:rPr dirty="0"/>
              <a:t>SHA-256 Merkle </a:t>
            </a:r>
            <a:r>
              <a:rPr dirty="0" err="1"/>
              <a:t>鏈結防篡改收據，具備不可否認性法庭證據力</a:t>
            </a:r>
            <a:r>
              <a:rPr dirty="0"/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730108"/>
            <a:ext cx="3413455" cy="1657004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rPr dirty="0"/>
              <a:t>P6. Revocation (</a:t>
            </a:r>
            <a:r>
              <a:rPr dirty="0" err="1"/>
              <a:t>動態撤銷</a:t>
            </a:r>
            <a:r>
              <a:rPr dirty="0"/>
              <a:t>)</a:t>
            </a:r>
            <a:endParaRPr lang="en-US" dirty="0"/>
          </a:p>
          <a:p>
            <a:pPr algn="ctr">
              <a:defRPr sz="1600" b="1">
                <a:solidFill>
                  <a:srgbClr val="38BDF8"/>
                </a:solidFill>
              </a:defRPr>
            </a:pPr>
            <a:endParaRPr dirty="0"/>
          </a:p>
          <a:p>
            <a:pPr>
              <a:defRPr sz="1400">
                <a:solidFill>
                  <a:srgbClr val="F8FAFC"/>
                </a:solidFill>
              </a:defRPr>
            </a:pPr>
            <a:r>
              <a:rPr dirty="0"/>
              <a:t>O(1) RCU </a:t>
            </a:r>
            <a:r>
              <a:rPr dirty="0" err="1"/>
              <a:t>原子指針常數時間秒級切換，權限凍結立即生效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● CORE ARCHITECTURE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DROS 架構的 3 個核心組件：身分注入、帶內閘門與密碼學存證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7240"/>
            <a:ext cx="3413455" cy="4298604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defRPr sz="1650" b="1">
                <a:solidFill>
                  <a:srgbClr val="38BDF8"/>
                </a:solidFill>
              </a:defRPr>
            </a:pPr>
            <a:r>
              <a:rPr dirty="0"/>
              <a:t>【</a:t>
            </a:r>
            <a:r>
              <a:rPr dirty="0" err="1"/>
              <a:t>組件</a:t>
            </a:r>
            <a:r>
              <a:rPr dirty="0"/>
              <a:t> A】</a:t>
            </a:r>
            <a:endParaRPr lang="en-US" dirty="0"/>
          </a:p>
          <a:p>
            <a:pPr algn="ctr">
              <a:defRPr sz="1650" b="1">
                <a:solidFill>
                  <a:srgbClr val="38BDF8"/>
                </a:solidFill>
              </a:defRPr>
            </a:pPr>
            <a:r>
              <a:rPr dirty="0"/>
              <a:t>DIT Token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rPr dirty="0" err="1"/>
              <a:t>身分憑證注入層</a:t>
            </a:r>
            <a:r>
              <a:rPr dirty="0"/>
              <a:t> </a:t>
            </a:r>
            <a:endParaRPr lang="en-US" dirty="0"/>
          </a:p>
          <a:p>
            <a:pPr>
              <a:defRPr sz="1300">
                <a:solidFill>
                  <a:srgbClr val="CBD5E1"/>
                </a:solidFill>
              </a:defRPr>
            </a:pPr>
            <a:r>
              <a:rPr dirty="0"/>
              <a:t>(Principal Injection)</a:t>
            </a:r>
            <a:endParaRPr lang="en-US" dirty="0"/>
          </a:p>
          <a:p>
            <a:pPr>
              <a:defRPr sz="1300">
                <a:solidFill>
                  <a:srgbClr val="CBD5E1"/>
                </a:solidFill>
              </a:defRPr>
            </a:pPr>
            <a:endParaRPr dirty="0"/>
          </a:p>
          <a:p>
            <a:pPr>
              <a:defRPr sz="1000">
                <a:solidFill>
                  <a:srgbClr val="46556E"/>
                </a:solidFill>
              </a:defRPr>
            </a:pPr>
            <a:r>
              <a:rPr dirty="0"/>
              <a:t>─────────────────────────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rPr dirty="0"/>
              <a:t>▶ </a:t>
            </a:r>
            <a:r>
              <a:rPr dirty="0" err="1"/>
              <a:t>每個</a:t>
            </a:r>
            <a:r>
              <a:rPr dirty="0"/>
              <a:t> Agent </a:t>
            </a:r>
            <a:r>
              <a:rPr dirty="0" err="1"/>
              <a:t>啟動時自動注入加密身分憑證</a:t>
            </a:r>
            <a:r>
              <a:rPr dirty="0"/>
              <a:t>。</a:t>
            </a:r>
            <a:endParaRPr lang="en-US" dirty="0"/>
          </a:p>
          <a:p>
            <a:pPr>
              <a:defRPr sz="1400">
                <a:solidFill>
                  <a:srgbClr val="F8FAFC"/>
                </a:solidFill>
              </a:defRPr>
            </a:pPr>
            <a:endParaRPr dirty="0"/>
          </a:p>
          <a:p>
            <a:pPr>
              <a:defRPr sz="1400">
                <a:solidFill>
                  <a:srgbClr val="F8FAFC"/>
                </a:solidFill>
              </a:defRPr>
            </a:pPr>
            <a:r>
              <a:rPr dirty="0"/>
              <a:t>▶ </a:t>
            </a:r>
            <a:r>
              <a:rPr dirty="0" err="1"/>
              <a:t>強綁定</a:t>
            </a:r>
            <a:r>
              <a:rPr dirty="0"/>
              <a:t>：「誰 (ID) ＋ </a:t>
            </a:r>
            <a:r>
              <a:rPr dirty="0" err="1"/>
              <a:t>授權做什麼</a:t>
            </a:r>
            <a:r>
              <a:rPr dirty="0"/>
              <a:t> (Scope) ＋ </a:t>
            </a:r>
            <a:r>
              <a:rPr dirty="0" err="1"/>
              <a:t>到期時間</a:t>
            </a:r>
            <a:r>
              <a:rPr dirty="0"/>
              <a:t>」。</a:t>
            </a:r>
            <a:endParaRPr lang="en-US" dirty="0"/>
          </a:p>
          <a:p>
            <a:pPr>
              <a:defRPr sz="1400">
                <a:solidFill>
                  <a:srgbClr val="F8FAFC"/>
                </a:solidFill>
              </a:defRPr>
            </a:pPr>
            <a:endParaRPr dirty="0"/>
          </a:p>
          <a:p>
            <a:pPr>
              <a:defRPr sz="1400">
                <a:solidFill>
                  <a:srgbClr val="F8FAFC"/>
                </a:solidFill>
              </a:defRPr>
            </a:pPr>
            <a:r>
              <a:rPr dirty="0"/>
              <a:t>▶ </a:t>
            </a:r>
            <a:r>
              <a:rPr dirty="0" err="1"/>
              <a:t>無縫整合法人</a:t>
            </a:r>
            <a:r>
              <a:rPr dirty="0"/>
              <a:t> </a:t>
            </a:r>
            <a:r>
              <a:rPr dirty="0" err="1"/>
              <a:t>vLEI</a:t>
            </a:r>
            <a:r>
              <a:rPr dirty="0"/>
              <a:t> </a:t>
            </a:r>
            <a:r>
              <a:rPr dirty="0" err="1"/>
              <a:t>與自然人</a:t>
            </a:r>
            <a:r>
              <a:rPr dirty="0"/>
              <a:t> </a:t>
            </a:r>
            <a:r>
              <a:rPr dirty="0" err="1"/>
              <a:t>MyData</a:t>
            </a:r>
            <a:r>
              <a:rPr dirty="0"/>
              <a:t> </a:t>
            </a:r>
            <a:r>
              <a:rPr dirty="0" err="1"/>
              <a:t>雙軌</a:t>
            </a:r>
            <a:r>
              <a:rPr dirty="0"/>
              <a:t>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7240"/>
            <a:ext cx="3413455" cy="4298604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defRPr sz="1650" b="1">
                <a:solidFill>
                  <a:srgbClr val="F87171"/>
                </a:solidFill>
              </a:defRPr>
            </a:pPr>
            <a:r>
              <a:rPr dirty="0"/>
              <a:t>【</a:t>
            </a:r>
            <a:r>
              <a:rPr dirty="0" err="1"/>
              <a:t>組件</a:t>
            </a:r>
            <a:r>
              <a:rPr dirty="0"/>
              <a:t> B】</a:t>
            </a:r>
            <a:endParaRPr lang="en-US" dirty="0"/>
          </a:p>
          <a:p>
            <a:pPr algn="ctr">
              <a:defRPr sz="1650" b="1">
                <a:solidFill>
                  <a:srgbClr val="F87171"/>
                </a:solidFill>
              </a:defRPr>
            </a:pPr>
            <a:r>
              <a:rPr dirty="0"/>
              <a:t>Policy Gate</a:t>
            </a:r>
            <a:r>
              <a:rPr lang="zh-TW" altLang="en-US" dirty="0"/>
              <a:t> </a:t>
            </a:r>
            <a:r>
              <a:rPr lang="en-US" altLang="zh-TW" dirty="0"/>
              <a:t>–</a:t>
            </a:r>
            <a:r>
              <a:rPr lang="zh-TW" altLang="en-US" dirty="0"/>
              <a:t> </a:t>
            </a:r>
            <a:r>
              <a:rPr lang="en-US" altLang="zh-TW" dirty="0"/>
              <a:t>C-ABI</a:t>
            </a:r>
            <a:endParaRPr dirty="0"/>
          </a:p>
          <a:p>
            <a:pPr>
              <a:defRPr sz="1300">
                <a:solidFill>
                  <a:srgbClr val="CBD5E1"/>
                </a:solidFill>
              </a:defRPr>
            </a:pPr>
            <a:r>
              <a:rPr dirty="0" err="1"/>
              <a:t>帶內策略閘門層</a:t>
            </a:r>
            <a:endParaRPr lang="en-US" dirty="0"/>
          </a:p>
          <a:p>
            <a:pPr>
              <a:defRPr sz="1300">
                <a:solidFill>
                  <a:srgbClr val="CBD5E1"/>
                </a:solidFill>
              </a:defRPr>
            </a:pPr>
            <a:r>
              <a:rPr dirty="0"/>
              <a:t> (In-Band Gate)</a:t>
            </a:r>
            <a:endParaRPr lang="en-US" dirty="0"/>
          </a:p>
          <a:p>
            <a:pPr>
              <a:defRPr sz="1300">
                <a:solidFill>
                  <a:srgbClr val="CBD5E1"/>
                </a:solidFill>
              </a:defRPr>
            </a:pPr>
            <a:endParaRPr dirty="0"/>
          </a:p>
          <a:p>
            <a:pPr>
              <a:defRPr sz="1000">
                <a:solidFill>
                  <a:srgbClr val="46556E"/>
                </a:solidFill>
              </a:defRPr>
            </a:pPr>
            <a:r>
              <a:rPr dirty="0"/>
              <a:t>─────────────────────────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rPr dirty="0"/>
              <a:t>▶ Agent </a:t>
            </a:r>
            <a:r>
              <a:rPr dirty="0" err="1"/>
              <a:t>呼叫</a:t>
            </a:r>
            <a:r>
              <a:rPr dirty="0"/>
              <a:t> Tool </a:t>
            </a:r>
            <a:r>
              <a:rPr dirty="0" err="1"/>
              <a:t>時物理上必須先過此</a:t>
            </a:r>
            <a:r>
              <a:rPr dirty="0"/>
              <a:t> C-ABI </a:t>
            </a:r>
            <a:r>
              <a:rPr dirty="0" err="1"/>
              <a:t>閘門</a:t>
            </a:r>
            <a:r>
              <a:rPr dirty="0"/>
              <a:t>。</a:t>
            </a:r>
            <a:endParaRPr lang="en-US" dirty="0"/>
          </a:p>
          <a:p>
            <a:pPr>
              <a:defRPr sz="1400">
                <a:solidFill>
                  <a:srgbClr val="F8FAFC"/>
                </a:solidFill>
              </a:defRPr>
            </a:pPr>
            <a:endParaRPr dirty="0"/>
          </a:p>
          <a:p>
            <a:pPr>
              <a:defRPr sz="1400">
                <a:solidFill>
                  <a:srgbClr val="F8FAFC"/>
                </a:solidFill>
              </a:defRPr>
            </a:pPr>
            <a:r>
              <a:rPr dirty="0"/>
              <a:t>▶ </a:t>
            </a:r>
            <a:r>
              <a:rPr dirty="0" err="1"/>
              <a:t>未授權動作在</a:t>
            </a:r>
            <a:r>
              <a:rPr dirty="0"/>
              <a:t> 26.1 </a:t>
            </a:r>
            <a:r>
              <a:rPr dirty="0" err="1"/>
              <a:t>μs</a:t>
            </a:r>
            <a:r>
              <a:rPr dirty="0"/>
              <a:t> </a:t>
            </a:r>
            <a:r>
              <a:rPr dirty="0" err="1"/>
              <a:t>內硬性熔斷</a:t>
            </a:r>
            <a:r>
              <a:rPr dirty="0"/>
              <a:t> (HTTP 403)。</a:t>
            </a:r>
            <a:endParaRPr lang="en-US" dirty="0"/>
          </a:p>
          <a:p>
            <a:pPr>
              <a:defRPr sz="1400">
                <a:solidFill>
                  <a:srgbClr val="F8FAFC"/>
                </a:solidFill>
              </a:defRPr>
            </a:pPr>
            <a:endParaRPr dirty="0"/>
          </a:p>
          <a:p>
            <a:pPr>
              <a:defRPr sz="1400">
                <a:solidFill>
                  <a:srgbClr val="F8FAFC"/>
                </a:solidFill>
              </a:defRPr>
            </a:pPr>
            <a:r>
              <a:rPr dirty="0"/>
              <a:t>▶ </a:t>
            </a:r>
            <a:r>
              <a:rPr dirty="0" err="1"/>
              <a:t>高風險動作自動掛起交易，觸發人類雙重簽署</a:t>
            </a:r>
            <a:r>
              <a:rPr dirty="0"/>
              <a:t> (HITL)。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7240"/>
            <a:ext cx="3413455" cy="4298604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defRPr sz="1650" b="1">
                <a:solidFill>
                  <a:srgbClr val="4ADE80"/>
                </a:solidFill>
              </a:defRPr>
            </a:pPr>
            <a:r>
              <a:rPr dirty="0"/>
              <a:t>【</a:t>
            </a:r>
            <a:r>
              <a:rPr dirty="0" err="1"/>
              <a:t>組件</a:t>
            </a:r>
            <a:r>
              <a:rPr dirty="0"/>
              <a:t> C】</a:t>
            </a:r>
            <a:endParaRPr lang="en-US" dirty="0"/>
          </a:p>
          <a:p>
            <a:pPr algn="ctr">
              <a:defRPr sz="1650" b="1">
                <a:solidFill>
                  <a:srgbClr val="4ADE80"/>
                </a:solidFill>
              </a:defRPr>
            </a:pPr>
            <a:r>
              <a:rPr dirty="0"/>
              <a:t>Merkle Audit Chain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rPr dirty="0" err="1"/>
              <a:t>不可竄改稽核層</a:t>
            </a:r>
            <a:endParaRPr lang="en-US" dirty="0"/>
          </a:p>
          <a:p>
            <a:pPr>
              <a:defRPr sz="1300">
                <a:solidFill>
                  <a:srgbClr val="CBD5E1"/>
                </a:solidFill>
              </a:defRPr>
            </a:pPr>
            <a:r>
              <a:rPr dirty="0"/>
              <a:t> (Cryptographic Trail)</a:t>
            </a:r>
            <a:endParaRPr lang="en-US" dirty="0"/>
          </a:p>
          <a:p>
            <a:pPr>
              <a:defRPr sz="1300">
                <a:solidFill>
                  <a:srgbClr val="CBD5E1"/>
                </a:solidFill>
              </a:defRPr>
            </a:pPr>
            <a:endParaRPr dirty="0"/>
          </a:p>
          <a:p>
            <a:pPr>
              <a:defRPr sz="1000">
                <a:solidFill>
                  <a:srgbClr val="46556E"/>
                </a:solidFill>
              </a:defRPr>
            </a:pPr>
            <a:r>
              <a:rPr dirty="0"/>
              <a:t>─────────────────────────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rPr dirty="0"/>
              <a:t>▶ </a:t>
            </a:r>
            <a:r>
              <a:rPr dirty="0" err="1"/>
              <a:t>每次放行</a:t>
            </a:r>
            <a:r>
              <a:rPr dirty="0"/>
              <a:t>/</a:t>
            </a:r>
            <a:r>
              <a:rPr dirty="0" err="1"/>
              <a:t>熔斷寫入帶</a:t>
            </a:r>
            <a:r>
              <a:rPr dirty="0"/>
              <a:t> SHA-256 的 Merkle 鏈。</a:t>
            </a:r>
            <a:endParaRPr lang="en-US" dirty="0"/>
          </a:p>
          <a:p>
            <a:pPr>
              <a:defRPr sz="1400">
                <a:solidFill>
                  <a:srgbClr val="F8FAFC"/>
                </a:solidFill>
              </a:defRPr>
            </a:pPr>
            <a:endParaRPr dirty="0"/>
          </a:p>
          <a:p>
            <a:pPr>
              <a:defRPr sz="1400">
                <a:solidFill>
                  <a:srgbClr val="F8FAFC"/>
                </a:solidFill>
              </a:defRPr>
            </a:pPr>
            <a:r>
              <a:rPr dirty="0"/>
              <a:t>▶ </a:t>
            </a:r>
            <a:r>
              <a:rPr dirty="0" err="1"/>
              <a:t>前後雜湊鏈結，竄改失效，產出法庭採信收據</a:t>
            </a:r>
            <a:r>
              <a:rPr dirty="0"/>
              <a:t>。</a:t>
            </a:r>
            <a:endParaRPr lang="en-US" dirty="0"/>
          </a:p>
          <a:p>
            <a:pPr>
              <a:defRPr sz="1400">
                <a:solidFill>
                  <a:srgbClr val="F8FAFC"/>
                </a:solidFill>
              </a:defRPr>
            </a:pPr>
            <a:endParaRPr dirty="0"/>
          </a:p>
          <a:p>
            <a:pPr>
              <a:defRPr sz="1400">
                <a:solidFill>
                  <a:srgbClr val="F8FAFC"/>
                </a:solidFill>
              </a:defRPr>
            </a:pPr>
            <a:r>
              <a:rPr dirty="0"/>
              <a:t>▶ </a:t>
            </a:r>
            <a:r>
              <a:rPr dirty="0" err="1"/>
              <a:t>支援</a:t>
            </a:r>
            <a:r>
              <a:rPr dirty="0"/>
              <a:t> O(1) RCU </a:t>
            </a:r>
            <a:r>
              <a:rPr dirty="0" err="1"/>
              <a:t>原子指針秒級動態撤銷與凍結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● DROS MICROKERNEL COMPONENTS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4 大關鍵部件的職責與技術實現：6P 涵蓋、底層硬指標與產業痛點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374924"/>
              </p:ext>
            </p:extLst>
          </p:nvPr>
        </p:nvGraphicFramePr>
        <p:xfrm>
          <a:off x="731520" y="1280160"/>
          <a:ext cx="1072865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3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24128"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38BDF8"/>
                          </a:solidFill>
                        </a:defRPr>
                      </a:pPr>
                      <a:r>
                        <a:rPr dirty="0" err="1"/>
                        <a:t>邊界維度</a:t>
                      </a:r>
                      <a:endParaRPr dirty="0"/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38BDF8"/>
                          </a:solidFill>
                        </a:defRPr>
                      </a:pPr>
                      <a:r>
                        <a:rPr dirty="0"/>
                        <a:t>🧩 DROS </a:t>
                      </a:r>
                      <a:r>
                        <a:rPr dirty="0" err="1"/>
                        <a:t>關鍵部件名稱</a:t>
                      </a:r>
                      <a:endParaRPr dirty="0"/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38BDF8"/>
                          </a:solidFill>
                        </a:defRPr>
                      </a:pPr>
                      <a:r>
                        <a:rPr dirty="0" err="1"/>
                        <a:t>涵蓋的</a:t>
                      </a:r>
                      <a:r>
                        <a:rPr dirty="0"/>
                        <a:t> 6P </a:t>
                      </a:r>
                      <a:r>
                        <a:rPr dirty="0" err="1"/>
                        <a:t>要素</a:t>
                      </a:r>
                      <a:endParaRPr dirty="0"/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38BDF8"/>
                          </a:solidFill>
                        </a:defRPr>
                      </a:pPr>
                      <a:r>
                        <a:rPr dirty="0" err="1"/>
                        <a:t>底層技術實現與硬指標</a:t>
                      </a:r>
                      <a:endParaRPr dirty="0"/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38BDF8"/>
                          </a:solidFill>
                        </a:defRPr>
                      </a:pPr>
                      <a:r>
                        <a:rPr dirty="0" err="1"/>
                        <a:t>解決的產業痛點</a:t>
                      </a:r>
                      <a:endParaRPr dirty="0"/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rPr dirty="0"/>
                        <a:t>📥 Ingress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rPr dirty="0"/>
                        <a:t>1. Safe Ingress</a:t>
                      </a:r>
                    </a:p>
                    <a:p>
                      <a:pPr algn="ctr">
                        <a:defRPr sz="1200" b="0">
                          <a:solidFill>
                            <a:srgbClr val="CBD5E1"/>
                          </a:solidFill>
                        </a:defRPr>
                      </a:pPr>
                      <a:r>
                        <a:rPr dirty="0"/>
                        <a:t>Data Redactor</a:t>
                      </a:r>
                    </a:p>
                    <a:p>
                      <a:pPr algn="ctr">
                        <a:defRPr sz="1200" b="0">
                          <a:solidFill>
                            <a:srgbClr val="CBD5E1"/>
                          </a:solidFill>
                        </a:defRPr>
                      </a:pPr>
                      <a:r>
                        <a:rPr dirty="0"/>
                        <a:t>(</a:t>
                      </a:r>
                      <a:r>
                        <a:rPr dirty="0" err="1"/>
                        <a:t>安全特徵最小化遮蔽器</a:t>
                      </a:r>
                      <a:r>
                        <a:rPr dirty="0"/>
                        <a:t>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BBF24"/>
                          </a:solidFill>
                        </a:defRPr>
                      </a:pPr>
                      <a:r>
                        <a:rPr dirty="0"/>
                        <a:t>P4. Policy Gate</a:t>
                      </a:r>
                    </a:p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rPr dirty="0"/>
                        <a:t>(</a:t>
                      </a:r>
                      <a:r>
                        <a:rPr dirty="0" err="1"/>
                        <a:t>隱私與最小化</a:t>
                      </a:r>
                      <a:r>
                        <a:rPr dirty="0"/>
                        <a:t>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DE80"/>
                          </a:solidFill>
                        </a:defRPr>
                      </a:pPr>
                      <a:r>
                        <a:t>• 動態正則/NER 遮蔽引擎</a:t>
                      </a:r>
                    </a:p>
                    <a:p>
                      <a:pPr algn="ctr">
                        <a:defRPr sz="1200">
                          <a:solidFill>
                            <a:srgbClr val="4ADE80"/>
                          </a:solidFill>
                        </a:defRPr>
                      </a:pPr>
                      <a:r>
                        <a:t>• ZKP-Lite 零知識證明生成器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t>杜絕機密洩漏：</a:t>
                      </a:r>
                    </a:p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醫療 18 項 PHI、製造 BOM 成本、工廠良率進不來 Agent 大腦。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📥 Ingress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rPr dirty="0"/>
                        <a:t>2. DIT Token</a:t>
                      </a:r>
                    </a:p>
                    <a:p>
                      <a:pPr algn="ctr">
                        <a:defRPr sz="1200" b="0">
                          <a:solidFill>
                            <a:srgbClr val="CBD5E1"/>
                          </a:solidFill>
                        </a:defRPr>
                      </a:pPr>
                      <a:r>
                        <a:rPr dirty="0"/>
                        <a:t>Principal Injector</a:t>
                      </a:r>
                    </a:p>
                    <a:p>
                      <a:pPr algn="ctr">
                        <a:defRPr sz="1200" b="0">
                          <a:solidFill>
                            <a:srgbClr val="CBD5E1"/>
                          </a:solidFill>
                        </a:defRPr>
                      </a:pPr>
                      <a:r>
                        <a:rPr dirty="0"/>
                        <a:t>(</a:t>
                      </a:r>
                      <a:r>
                        <a:rPr dirty="0" err="1"/>
                        <a:t>確定性身分憑證注入器</a:t>
                      </a:r>
                      <a:r>
                        <a:rPr dirty="0"/>
                        <a:t>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BBF24"/>
                          </a:solidFill>
                        </a:defRPr>
                      </a:pPr>
                      <a:r>
                        <a:rPr dirty="0"/>
                        <a:t>P1. Principal (</a:t>
                      </a:r>
                      <a:r>
                        <a:rPr dirty="0" err="1"/>
                        <a:t>身分綁定</a:t>
                      </a:r>
                      <a:r>
                        <a:rPr dirty="0"/>
                        <a:t>)</a:t>
                      </a:r>
                    </a:p>
                    <a:p>
                      <a:pPr algn="ctr">
                        <a:defRPr sz="1200">
                          <a:solidFill>
                            <a:srgbClr val="FBBF24"/>
                          </a:solidFill>
                        </a:defRPr>
                      </a:pPr>
                      <a:r>
                        <a:rPr dirty="0"/>
                        <a:t>P2. Authorization (</a:t>
                      </a:r>
                      <a:r>
                        <a:rPr dirty="0" err="1"/>
                        <a:t>權限授權</a:t>
                      </a:r>
                      <a:r>
                        <a:rPr dirty="0"/>
                        <a:t>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DE80"/>
                          </a:solidFill>
                        </a:defRPr>
                      </a:pPr>
                      <a:r>
                        <a:rPr dirty="0"/>
                        <a:t>• Ed25519 </a:t>
                      </a:r>
                      <a:r>
                        <a:rPr dirty="0" err="1"/>
                        <a:t>密碼學簽名</a:t>
                      </a:r>
                      <a:endParaRPr dirty="0"/>
                    </a:p>
                    <a:p>
                      <a:pPr algn="ctr">
                        <a:defRPr sz="1200">
                          <a:solidFill>
                            <a:srgbClr val="4ADE80"/>
                          </a:solidFill>
                        </a:defRPr>
                      </a:pPr>
                      <a:r>
                        <a:rPr dirty="0"/>
                        <a:t>• Zero-Heap Capability Bitmaps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t>杜絕假冒身分：</a:t>
                      </a:r>
                    </a:p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強綁定法人 vLEI、自然人 MyData 與 1:1:1 移工防偽。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084FC"/>
                          </a:solidFill>
                        </a:defRPr>
                      </a:pPr>
                      <a:r>
                        <a:t>📤 Egress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3. C-ABI In-Band</a:t>
                      </a:r>
                    </a:p>
                    <a:p>
                      <a:pPr algn="ctr">
                        <a:defRPr sz="1200" b="0">
                          <a:solidFill>
                            <a:srgbClr val="CBD5E1"/>
                          </a:solidFill>
                        </a:defRPr>
                      </a:pPr>
                      <a:r>
                        <a:t>Policy Gate</a:t>
                      </a:r>
                    </a:p>
                    <a:p>
                      <a:pPr algn="ctr">
                        <a:defRPr sz="1200" b="0">
                          <a:solidFill>
                            <a:srgbClr val="CBD5E1"/>
                          </a:solidFill>
                        </a:defRPr>
                      </a:pPr>
                      <a:r>
                        <a:t>(帶內二進位執行期閘門)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BBF24"/>
                          </a:solidFill>
                        </a:defRPr>
                      </a:pPr>
                      <a:r>
                        <a:t>P2. Authorization (範圍比對)</a:t>
                      </a:r>
                    </a:p>
                    <a:p>
                      <a:pPr algn="ctr">
                        <a:defRPr sz="1200">
                          <a:solidFill>
                            <a:srgbClr val="FBBF24"/>
                          </a:solidFill>
                        </a:defRPr>
                      </a:pPr>
                      <a:r>
                        <a:t>P3. Tool Bound (工具硬防線)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DE80"/>
                          </a:solidFill>
                        </a:defRPr>
                      </a:pPr>
                      <a:r>
                        <a:rPr dirty="0"/>
                        <a:t>• 26.1 </a:t>
                      </a:r>
                      <a:r>
                        <a:rPr dirty="0" err="1"/>
                        <a:t>μs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二進位</a:t>
                      </a:r>
                      <a:r>
                        <a:rPr dirty="0"/>
                        <a:t> C </a:t>
                      </a:r>
                      <a:r>
                        <a:rPr dirty="0" err="1"/>
                        <a:t>介面呼叫</a:t>
                      </a:r>
                      <a:endParaRPr dirty="0"/>
                    </a:p>
                    <a:p>
                      <a:pPr algn="ctr">
                        <a:defRPr sz="1200">
                          <a:solidFill>
                            <a:srgbClr val="4ADE80"/>
                          </a:solidFill>
                        </a:defRPr>
                      </a:pPr>
                      <a:r>
                        <a:rPr dirty="0"/>
                        <a:t>• </a:t>
                      </a:r>
                      <a:r>
                        <a:rPr dirty="0" err="1"/>
                        <a:t>暫存器級位元比對</a:t>
                      </a:r>
                      <a:r>
                        <a:rPr dirty="0"/>
                        <a:t> + 403 </a:t>
                      </a:r>
                      <a:r>
                        <a:rPr dirty="0" err="1"/>
                        <a:t>熔斷</a:t>
                      </a:r>
                      <a:endParaRPr dirty="0"/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rPr dirty="0" err="1"/>
                        <a:t>杜絕越權動作</a:t>
                      </a:r>
                      <a:r>
                        <a:rPr dirty="0"/>
                        <a:t>：</a:t>
                      </a:r>
                    </a:p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rPr dirty="0"/>
                        <a:t>Agent 被 Prompt Injection </a:t>
                      </a:r>
                      <a:r>
                        <a:rPr dirty="0" err="1"/>
                        <a:t>催眠想偷查戶籍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轉帳，在呼叫鏈被物理斷開</a:t>
                      </a:r>
                      <a:r>
                        <a:rPr dirty="0"/>
                        <a:t>。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084FC"/>
                          </a:solidFill>
                        </a:defRPr>
                      </a:pPr>
                      <a:r>
                        <a:t>📤 Egress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4. Merkle Chain &amp;</a:t>
                      </a:r>
                    </a:p>
                    <a:p>
                      <a:pPr algn="ctr">
                        <a:defRPr sz="1200" b="0">
                          <a:solidFill>
                            <a:srgbClr val="CBD5E1"/>
                          </a:solidFill>
                        </a:defRPr>
                      </a:pPr>
                      <a:r>
                        <a:t>RCU Revocation</a:t>
                      </a:r>
                    </a:p>
                    <a:p>
                      <a:pPr algn="ctr">
                        <a:defRPr sz="1200" b="0">
                          <a:solidFill>
                            <a:srgbClr val="CBD5E1"/>
                          </a:solidFill>
                        </a:defRPr>
                      </a:pPr>
                      <a:r>
                        <a:t>(密碼學存證與秒級撤銷內核)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BBF24"/>
                          </a:solidFill>
                        </a:defRPr>
                      </a:pPr>
                      <a:r>
                        <a:t>P5. Audit Log (防篡改日誌)</a:t>
                      </a:r>
                    </a:p>
                    <a:p>
                      <a:pPr algn="ctr">
                        <a:defRPr sz="1200">
                          <a:solidFill>
                            <a:srgbClr val="FBBF24"/>
                          </a:solidFill>
                        </a:defRPr>
                      </a:pPr>
                      <a:r>
                        <a:t>P6. Revocation (即時動態撤銷)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DE80"/>
                          </a:solidFill>
                        </a:defRPr>
                      </a:pPr>
                      <a:r>
                        <a:t>• SHA-256 前後哈希鏈結收據</a:t>
                      </a:r>
                    </a:p>
                    <a:p>
                      <a:pPr algn="ctr">
                        <a:defRPr sz="1200">
                          <a:solidFill>
                            <a:srgbClr val="4ADE80"/>
                          </a:solidFill>
                        </a:defRPr>
                      </a:pPr>
                      <a:r>
                        <a:t>• O(1) 常數時間 RCU 原子指針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rPr dirty="0" err="1"/>
                        <a:t>杜絕無法問責與偷跑</a:t>
                      </a:r>
                      <a:r>
                        <a:rPr dirty="0"/>
                        <a:t>：</a:t>
                      </a:r>
                    </a:p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rPr dirty="0" err="1"/>
                        <a:t>產出具備法庭採信力的</a:t>
                      </a:r>
                      <a:r>
                        <a:rPr dirty="0"/>
                        <a:t> Cert </a:t>
                      </a:r>
                      <a:r>
                        <a:rPr dirty="0" err="1"/>
                        <a:t>收據；管理員一鍵凍結權限秒級生效</a:t>
                      </a:r>
                      <a:r>
                        <a:rPr dirty="0"/>
                        <a:t>。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● THE GOLDEN TRIANGLE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跨產業統一治理核心：DROS「黃金三角形模型」與兩大根本邊界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28655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defRPr sz="1500" b="1">
                <a:solidFill>
                  <a:srgbClr val="FBBF24"/>
                </a:solidFill>
              </a:defRPr>
            </a:pPr>
            <a:r>
              <a:rPr dirty="0"/>
              <a:t>🔺 </a:t>
            </a:r>
            <a:r>
              <a:rPr dirty="0" err="1"/>
              <a:t>黃金三角形定理：AI</a:t>
            </a:r>
            <a:r>
              <a:rPr dirty="0"/>
              <a:t> 是 Detection/Knowledge </a:t>
            </a:r>
            <a:r>
              <a:rPr dirty="0" err="1"/>
              <a:t>引擎，DROS</a:t>
            </a:r>
            <a:r>
              <a:rPr dirty="0"/>
              <a:t> </a:t>
            </a:r>
            <a:r>
              <a:rPr dirty="0" err="1"/>
              <a:t>則是</a:t>
            </a:r>
            <a:r>
              <a:rPr dirty="0"/>
              <a:t> Execution Governance </a:t>
            </a:r>
            <a:r>
              <a:rPr lang="zh-TW" altLang="en-US" dirty="0"/>
              <a:t>信任</a:t>
            </a:r>
            <a:r>
              <a:rPr dirty="0" err="1"/>
              <a:t>底座</a:t>
            </a:r>
            <a:endParaRPr lang="en-US" dirty="0"/>
          </a:p>
          <a:p>
            <a:pPr algn="ctr">
              <a:defRPr sz="1500" b="1">
                <a:solidFill>
                  <a:srgbClr val="FBBF24"/>
                </a:solidFill>
              </a:defRPr>
            </a:pPr>
            <a:endParaRPr sz="800" dirty="0"/>
          </a:p>
          <a:p>
            <a:pPr algn="ctr">
              <a:defRPr sz="1400">
                <a:solidFill>
                  <a:srgbClr val="F8FAFC"/>
                </a:solidFill>
              </a:defRPr>
            </a:pPr>
            <a:r>
              <a:rPr dirty="0"/>
              <a:t>「</a:t>
            </a:r>
            <a:r>
              <a:rPr dirty="0" err="1"/>
              <a:t>不同產業、不同資料、不同任務，可以完全不同；但只要它們最後都能透過同一個治理三角形安全地進入與離開</a:t>
            </a:r>
            <a:r>
              <a:rPr dirty="0"/>
              <a:t> execution </a:t>
            </a:r>
            <a:r>
              <a:rPr dirty="0" err="1"/>
              <a:t>boundary，DROS</a:t>
            </a:r>
            <a:r>
              <a:rPr dirty="0"/>
              <a:t> </a:t>
            </a:r>
            <a:r>
              <a:rPr dirty="0" err="1"/>
              <a:t>才真正開始像一個</a:t>
            </a:r>
            <a:r>
              <a:rPr dirty="0"/>
              <a:t> </a:t>
            </a:r>
            <a:r>
              <a:rPr dirty="0" err="1"/>
              <a:t>OS，而不是另一套</a:t>
            </a:r>
            <a:r>
              <a:rPr dirty="0"/>
              <a:t> Toolkit。」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64873"/>
            <a:ext cx="5212080" cy="352736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rPr dirty="0" err="1"/>
              <a:t>邊界</a:t>
            </a:r>
            <a:r>
              <a:rPr dirty="0"/>
              <a:t> ①：</a:t>
            </a:r>
            <a:r>
              <a:rPr dirty="0" err="1"/>
              <a:t>Ingress（安全特徵輸入</a:t>
            </a:r>
            <a:r>
              <a:rPr dirty="0"/>
              <a:t> / </a:t>
            </a:r>
            <a:r>
              <a:rPr dirty="0" err="1"/>
              <a:t>資料最小化</a:t>
            </a:r>
            <a:r>
              <a:rPr dirty="0"/>
              <a:t>）</a:t>
            </a:r>
            <a:endParaRPr lang="en-US" dirty="0"/>
          </a:p>
          <a:p>
            <a:pPr algn="ctr">
              <a:defRPr sz="1500" b="1">
                <a:solidFill>
                  <a:srgbClr val="38BDF8"/>
                </a:solidFill>
              </a:defRPr>
            </a:pPr>
            <a:endParaRPr dirty="0"/>
          </a:p>
          <a:p>
            <a:pPr>
              <a:defRPr sz="1400">
                <a:solidFill>
                  <a:srgbClr val="F8FAFC"/>
                </a:solidFill>
              </a:defRPr>
            </a:pPr>
            <a:r>
              <a:rPr dirty="0"/>
              <a:t>• </a:t>
            </a:r>
            <a:r>
              <a:rPr dirty="0" err="1"/>
              <a:t>允許進入</a:t>
            </a:r>
            <a:r>
              <a:rPr dirty="0"/>
              <a:t> (Allowed)：去識別化特徵向量、碳排係數、ICD-10診斷碼、所得級距試算、ZKP </a:t>
            </a:r>
            <a:r>
              <a:rPr dirty="0" err="1"/>
              <a:t>合規證明</a:t>
            </a:r>
            <a:r>
              <a:rPr dirty="0"/>
              <a:t>。</a:t>
            </a:r>
            <a:endParaRPr lang="en-US" dirty="0"/>
          </a:p>
          <a:p>
            <a:pPr>
              <a:defRPr sz="1400">
                <a:solidFill>
                  <a:srgbClr val="F8FAFC"/>
                </a:solidFill>
              </a:defRPr>
            </a:pPr>
            <a:endParaRPr dirty="0"/>
          </a:p>
          <a:p>
            <a:pPr>
              <a:defRPr sz="1400">
                <a:solidFill>
                  <a:srgbClr val="F87171"/>
                </a:solidFill>
              </a:defRPr>
            </a:pPr>
            <a:r>
              <a:rPr dirty="0"/>
              <a:t>• </a:t>
            </a:r>
            <a:r>
              <a:rPr dirty="0" err="1"/>
              <a:t>嚴密隔離</a:t>
            </a:r>
            <a:r>
              <a:rPr dirty="0"/>
              <a:t> (Forbidden)：</a:t>
            </a:r>
            <a:r>
              <a:rPr dirty="0" err="1"/>
              <a:t>核心</a:t>
            </a:r>
            <a:r>
              <a:rPr dirty="0"/>
              <a:t> BOM 成本良率、身分證帳戶明細、18項 PHI </a:t>
            </a:r>
            <a:r>
              <a:rPr dirty="0" err="1"/>
              <a:t>病歷、完整稅籍</a:t>
            </a:r>
            <a:r>
              <a:rPr dirty="0"/>
              <a:t>。</a:t>
            </a:r>
            <a:endParaRPr lang="en-US" dirty="0"/>
          </a:p>
          <a:p>
            <a:pPr>
              <a:defRPr sz="1400">
                <a:solidFill>
                  <a:srgbClr val="F87171"/>
                </a:solidFill>
              </a:defRPr>
            </a:pPr>
            <a:endParaRPr dirty="0"/>
          </a:p>
          <a:p>
            <a:pPr>
              <a:defRPr sz="1400" b="1">
                <a:solidFill>
                  <a:srgbClr val="FBBF24"/>
                </a:solidFill>
              </a:defRPr>
            </a:pPr>
            <a:r>
              <a:rPr dirty="0"/>
              <a:t>👉 </a:t>
            </a:r>
            <a:r>
              <a:rPr dirty="0" err="1"/>
              <a:t>對應部件：Safe</a:t>
            </a:r>
            <a:r>
              <a:rPr dirty="0"/>
              <a:t> Ingress Redactor ＋ DIT Injector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2964873"/>
            <a:ext cx="5212080" cy="352736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defRPr sz="1500" b="1">
                <a:solidFill>
                  <a:srgbClr val="C084FC"/>
                </a:solidFill>
              </a:defRPr>
            </a:pPr>
            <a:r>
              <a:rPr dirty="0" err="1"/>
              <a:t>邊界</a:t>
            </a:r>
            <a:r>
              <a:rPr dirty="0"/>
              <a:t> ②：</a:t>
            </a:r>
            <a:r>
              <a:rPr dirty="0" err="1"/>
              <a:t>Egress（確定性動作輸出</a:t>
            </a:r>
            <a:r>
              <a:rPr dirty="0"/>
              <a:t> / C-ABI </a:t>
            </a:r>
            <a:r>
              <a:rPr dirty="0" err="1"/>
              <a:t>硬閘門</a:t>
            </a:r>
            <a:r>
              <a:rPr dirty="0"/>
              <a:t>）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endParaRPr lang="en-US" dirty="0"/>
          </a:p>
          <a:p>
            <a:pPr>
              <a:defRPr sz="1400">
                <a:solidFill>
                  <a:srgbClr val="F8FAFC"/>
                </a:solidFill>
              </a:defRPr>
            </a:pPr>
            <a:r>
              <a:rPr dirty="0"/>
              <a:t>• </a:t>
            </a:r>
            <a:r>
              <a:rPr dirty="0" err="1"/>
              <a:t>帶內二進位門閥：所有</a:t>
            </a:r>
            <a:r>
              <a:rPr dirty="0"/>
              <a:t> Tool Call </a:t>
            </a:r>
            <a:r>
              <a:rPr dirty="0" err="1"/>
              <a:t>物理必過</a:t>
            </a:r>
            <a:r>
              <a:rPr dirty="0"/>
              <a:t> </a:t>
            </a:r>
            <a:r>
              <a:rPr dirty="0" err="1"/>
              <a:t>C-ABI，未授權動作在</a:t>
            </a:r>
            <a:r>
              <a:rPr dirty="0"/>
              <a:t> 26.1 </a:t>
            </a:r>
            <a:r>
              <a:rPr dirty="0" err="1"/>
              <a:t>μs</a:t>
            </a:r>
            <a:r>
              <a:rPr dirty="0"/>
              <a:t> </a:t>
            </a:r>
            <a:r>
              <a:rPr dirty="0" err="1"/>
              <a:t>內硬熔斷</a:t>
            </a:r>
            <a:r>
              <a:rPr dirty="0"/>
              <a:t> (HTTP 403)。</a:t>
            </a:r>
            <a:endParaRPr lang="en-US" dirty="0"/>
          </a:p>
          <a:p>
            <a:pPr>
              <a:defRPr sz="1400">
                <a:solidFill>
                  <a:srgbClr val="F8FAFC"/>
                </a:solidFill>
              </a:defRPr>
            </a:pPr>
            <a:endParaRPr dirty="0"/>
          </a:p>
          <a:p>
            <a:pPr>
              <a:defRPr sz="1400">
                <a:solidFill>
                  <a:srgbClr val="4ADE80"/>
                </a:solidFill>
              </a:defRPr>
            </a:pPr>
            <a:r>
              <a:rPr dirty="0"/>
              <a:t>• </a:t>
            </a:r>
            <a:r>
              <a:rPr dirty="0" err="1"/>
              <a:t>密碼學存證與撤銷：每次動作寫入</a:t>
            </a:r>
            <a:r>
              <a:rPr dirty="0"/>
              <a:t> SHA-256 Merkle </a:t>
            </a:r>
            <a:r>
              <a:rPr dirty="0" err="1"/>
              <a:t>鏈，支援</a:t>
            </a:r>
            <a:r>
              <a:rPr dirty="0"/>
              <a:t> O(1) RCU </a:t>
            </a:r>
            <a:r>
              <a:rPr dirty="0" err="1"/>
              <a:t>原子指針秒級撤銷</a:t>
            </a:r>
            <a:r>
              <a:rPr dirty="0"/>
              <a:t>。</a:t>
            </a:r>
            <a:endParaRPr lang="en-US" dirty="0"/>
          </a:p>
          <a:p>
            <a:pPr>
              <a:defRPr sz="1400">
                <a:solidFill>
                  <a:srgbClr val="4ADE80"/>
                </a:solidFill>
              </a:defRPr>
            </a:pPr>
            <a:endParaRPr dirty="0"/>
          </a:p>
          <a:p>
            <a:pPr>
              <a:defRPr sz="1400" b="1">
                <a:solidFill>
                  <a:srgbClr val="FBBF24"/>
                </a:solidFill>
              </a:defRPr>
            </a:pPr>
            <a:r>
              <a:rPr dirty="0"/>
              <a:t>👉 </a:t>
            </a:r>
            <a:r>
              <a:rPr dirty="0" err="1"/>
              <a:t>對應部件：C-ABI</a:t>
            </a:r>
            <a:r>
              <a:rPr dirty="0"/>
              <a:t> In-Band Gate ＋ Merkle &amp; RCU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41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● THE GOLDEN TRIANGLE FLOW ARCHITECTURE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DROS 黃金三角形：真實企業資料與 Ingress/Egress 執行政策閘門流向圖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0" y="1051560"/>
            <a:ext cx="4327855" cy="502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🏢 【REAL-WORLD DATA / ENTERPRISE CORE】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554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BBF24"/>
                </a:solidFill>
              </a:defRPr>
            </a:pPr>
            <a:r>
              <a:t>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828800"/>
            <a:ext cx="4327855" cy="502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🛡️ DROS 執行期政策閘門層 (Ingress Redactor)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5120640" cy="1600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defRPr sz="1350" b="1">
                <a:solidFill>
                  <a:srgbClr val="4ADE80"/>
                </a:solidFill>
              </a:defRPr>
            </a:pPr>
            <a:r>
              <a:rPr dirty="0"/>
              <a:t>📥 【Allowed Data (</a:t>
            </a:r>
            <a:r>
              <a:rPr dirty="0" err="1"/>
              <a:t>最小必要揭露</a:t>
            </a:r>
            <a:r>
              <a:rPr dirty="0"/>
              <a:t>)】</a:t>
            </a:r>
          </a:p>
          <a:p>
            <a:pPr algn="ctr">
              <a:defRPr sz="1100">
                <a:solidFill>
                  <a:srgbClr val="F8FAFC"/>
                </a:solidFill>
              </a:defRPr>
            </a:pPr>
            <a:r>
              <a:rPr dirty="0"/>
              <a:t>• </a:t>
            </a:r>
            <a:r>
              <a:rPr dirty="0" err="1"/>
              <a:t>製造：去識別化碳足跡</a:t>
            </a:r>
            <a:r>
              <a:rPr dirty="0"/>
              <a:t> / </a:t>
            </a:r>
            <a:r>
              <a:rPr dirty="0" err="1"/>
              <a:t>製程係數</a:t>
            </a:r>
            <a:endParaRPr dirty="0"/>
          </a:p>
          <a:p>
            <a:pPr algn="ctr">
              <a:defRPr sz="1100">
                <a:solidFill>
                  <a:srgbClr val="F8FAFC"/>
                </a:solidFill>
              </a:defRPr>
            </a:pPr>
            <a:r>
              <a:rPr dirty="0"/>
              <a:t>• </a:t>
            </a:r>
            <a:r>
              <a:rPr dirty="0" err="1"/>
              <a:t>金融：去識別化圖關聯特徵</a:t>
            </a:r>
            <a:r>
              <a:rPr dirty="0"/>
              <a:t> / </a:t>
            </a:r>
            <a:r>
              <a:rPr dirty="0" err="1"/>
              <a:t>行為向量</a:t>
            </a:r>
            <a:endParaRPr dirty="0"/>
          </a:p>
          <a:p>
            <a:pPr algn="ctr">
              <a:defRPr sz="1100">
                <a:solidFill>
                  <a:srgbClr val="F8FAFC"/>
                </a:solidFill>
              </a:defRPr>
            </a:pPr>
            <a:r>
              <a:rPr dirty="0"/>
              <a:t>• 醫療：ICD-10 </a:t>
            </a:r>
            <a:r>
              <a:rPr dirty="0" err="1"/>
              <a:t>診斷碼</a:t>
            </a:r>
            <a:r>
              <a:rPr dirty="0"/>
              <a:t> / </a:t>
            </a:r>
            <a:r>
              <a:rPr dirty="0" err="1"/>
              <a:t>理賠金額</a:t>
            </a:r>
            <a:r>
              <a:rPr dirty="0"/>
              <a:t> / </a:t>
            </a:r>
            <a:r>
              <a:rPr dirty="0" err="1"/>
              <a:t>住院天數</a:t>
            </a:r>
            <a:endParaRPr dirty="0"/>
          </a:p>
          <a:p>
            <a:pPr algn="ctr">
              <a:defRPr sz="1100">
                <a:solidFill>
                  <a:srgbClr val="F8FAFC"/>
                </a:solidFill>
              </a:defRPr>
            </a:pPr>
            <a:r>
              <a:rPr dirty="0"/>
              <a:t>• </a:t>
            </a:r>
            <a:r>
              <a:rPr dirty="0" err="1"/>
              <a:t>政府：補助門檻試算條件</a:t>
            </a:r>
            <a:r>
              <a:rPr dirty="0"/>
              <a:t> (</a:t>
            </a:r>
            <a:r>
              <a:rPr dirty="0" err="1"/>
              <a:t>年齡</a:t>
            </a:r>
            <a:r>
              <a:rPr dirty="0"/>
              <a:t> / </a:t>
            </a:r>
            <a:r>
              <a:rPr dirty="0" err="1"/>
              <a:t>所得級距</a:t>
            </a:r>
            <a:r>
              <a:rPr dirty="0"/>
              <a:t>)</a:t>
            </a:r>
          </a:p>
          <a:p>
            <a:pPr algn="ctr">
              <a:defRPr sz="1100">
                <a:solidFill>
                  <a:srgbClr val="F8FAFC"/>
                </a:solidFill>
              </a:defRPr>
            </a:pPr>
            <a:r>
              <a:rPr dirty="0"/>
              <a:t>• </a:t>
            </a:r>
            <a:r>
              <a:rPr dirty="0" err="1"/>
              <a:t>普惠金融：居留許可狀態</a:t>
            </a:r>
            <a:r>
              <a:rPr dirty="0"/>
              <a:t> / </a:t>
            </a:r>
            <a:r>
              <a:rPr dirty="0" err="1"/>
              <a:t>合法就業證明</a:t>
            </a:r>
            <a:endParaRPr dirty="0"/>
          </a:p>
          <a:p>
            <a:pPr algn="ctr">
              <a:defRPr sz="1100">
                <a:solidFill>
                  <a:srgbClr val="F8FAFC"/>
                </a:solidFill>
              </a:defRPr>
            </a:pPr>
            <a:r>
              <a:rPr dirty="0"/>
              <a:t>• </a:t>
            </a:r>
            <a:r>
              <a:rPr dirty="0" err="1"/>
              <a:t>供應鏈：合規狀態</a:t>
            </a:r>
            <a:r>
              <a:rPr dirty="0"/>
              <a:t> TRUE / ZKP-Lite </a:t>
            </a:r>
            <a:r>
              <a:rPr dirty="0" err="1"/>
              <a:t>證明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339535" y="2577419"/>
            <a:ext cx="5120640" cy="1628821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defRPr sz="1350" b="1">
                <a:solidFill>
                  <a:srgbClr val="F87171"/>
                </a:solidFill>
              </a:defRPr>
            </a:pPr>
            <a:r>
              <a:rPr dirty="0"/>
              <a:t>🔒 【Forbidden Data (</a:t>
            </a:r>
            <a:r>
              <a:rPr dirty="0" err="1"/>
              <a:t>機密嚴密隔離</a:t>
            </a:r>
            <a:r>
              <a:rPr dirty="0"/>
              <a:t>)】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rPr dirty="0"/>
              <a:t>• </a:t>
            </a:r>
            <a:r>
              <a:rPr dirty="0" err="1"/>
              <a:t>製造：核心</a:t>
            </a:r>
            <a:r>
              <a:rPr dirty="0"/>
              <a:t> BOM </a:t>
            </a:r>
            <a:r>
              <a:rPr dirty="0" err="1"/>
              <a:t>原料成本</a:t>
            </a:r>
            <a:r>
              <a:rPr dirty="0"/>
              <a:t> / </a:t>
            </a:r>
            <a:r>
              <a:rPr dirty="0" err="1"/>
              <a:t>工廠良率</a:t>
            </a:r>
            <a:endParaRPr dirty="0"/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rPr dirty="0"/>
              <a:t>• </a:t>
            </a:r>
            <a:r>
              <a:rPr dirty="0" err="1"/>
              <a:t>金融：明文姓名</a:t>
            </a:r>
            <a:r>
              <a:rPr dirty="0"/>
              <a:t> / </a:t>
            </a:r>
            <a:r>
              <a:rPr dirty="0" err="1"/>
              <a:t>身分證號</a:t>
            </a:r>
            <a:r>
              <a:rPr dirty="0"/>
              <a:t> / </a:t>
            </a:r>
            <a:r>
              <a:rPr dirty="0" err="1"/>
              <a:t>原始帳戶明細</a:t>
            </a:r>
            <a:endParaRPr dirty="0"/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rPr dirty="0"/>
              <a:t>• 醫療：18項 PHI / </a:t>
            </a:r>
            <a:r>
              <a:rPr dirty="0" err="1"/>
              <a:t>病歷日誌</a:t>
            </a:r>
            <a:r>
              <a:rPr dirty="0"/>
              <a:t> / </a:t>
            </a:r>
            <a:r>
              <a:rPr dirty="0" err="1"/>
              <a:t>遺傳病史</a:t>
            </a:r>
            <a:endParaRPr dirty="0"/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rPr dirty="0"/>
              <a:t>• </a:t>
            </a:r>
            <a:r>
              <a:rPr dirty="0" err="1"/>
              <a:t>政府：跨機關完整稅籍</a:t>
            </a:r>
            <a:r>
              <a:rPr dirty="0"/>
              <a:t> / </a:t>
            </a:r>
            <a:r>
              <a:rPr dirty="0" err="1"/>
              <a:t>醫療歷史病歷</a:t>
            </a:r>
            <a:endParaRPr dirty="0"/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rPr dirty="0"/>
              <a:t>• </a:t>
            </a:r>
            <a:r>
              <a:rPr dirty="0" err="1"/>
              <a:t>普惠金融：完整母國銀行帳號</a:t>
            </a:r>
            <a:r>
              <a:rPr dirty="0"/>
              <a:t> / </a:t>
            </a:r>
            <a:r>
              <a:rPr dirty="0" err="1"/>
              <a:t>私密密碼</a:t>
            </a:r>
            <a:endParaRPr dirty="0"/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rPr dirty="0"/>
              <a:t>• </a:t>
            </a:r>
            <a:r>
              <a:rPr dirty="0" err="1"/>
              <a:t>供應鏈：工廠真實良率</a:t>
            </a:r>
            <a:r>
              <a:rPr dirty="0"/>
              <a:t> / </a:t>
            </a:r>
            <a:r>
              <a:rPr dirty="0" err="1"/>
              <a:t>全體員工薪資清冊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731521" y="4597868"/>
            <a:ext cx="2773680" cy="85183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rPr dirty="0"/>
              <a:t>🧠 </a:t>
            </a:r>
            <a:r>
              <a:rPr dirty="0" err="1"/>
              <a:t>產業</a:t>
            </a:r>
            <a:r>
              <a:rPr dirty="0"/>
              <a:t> AI Detection / Domain Agent</a:t>
            </a:r>
          </a:p>
          <a:p>
            <a:pPr algn="ctr">
              <a:defRPr sz="1000">
                <a:solidFill>
                  <a:srgbClr val="CBD5E1"/>
                </a:solidFill>
              </a:defRPr>
            </a:pPr>
            <a:r>
              <a:rPr dirty="0" err="1"/>
              <a:t>決策與知識推論引擎</a:t>
            </a:r>
            <a:r>
              <a:rPr dirty="0"/>
              <a:t> (Risk Score / Analysis)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1" y="4597868"/>
            <a:ext cx="2346960" cy="85183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defRPr sz="1200" b="1">
                <a:solidFill>
                  <a:srgbClr val="C084FC"/>
                </a:solidFill>
              </a:defRPr>
            </a:pPr>
            <a:r>
              <a:rPr dirty="0"/>
              <a:t>🛡️ DROS Egress Policy Gate</a:t>
            </a:r>
          </a:p>
          <a:p>
            <a:pPr algn="ctr">
              <a:defRPr sz="1000">
                <a:solidFill>
                  <a:srgbClr val="CBD5E1"/>
                </a:solidFill>
              </a:defRPr>
            </a:pPr>
            <a:r>
              <a:rPr dirty="0"/>
              <a:t>26.1 </a:t>
            </a:r>
            <a:r>
              <a:rPr dirty="0" err="1"/>
              <a:t>μs</a:t>
            </a:r>
            <a:r>
              <a:rPr dirty="0"/>
              <a:t> </a:t>
            </a:r>
            <a:r>
              <a:rPr dirty="0" err="1"/>
              <a:t>帶內防禦</a:t>
            </a:r>
            <a:r>
              <a:rPr dirty="0"/>
              <a:t> ＋ </a:t>
            </a:r>
            <a:r>
              <a:rPr dirty="0" err="1"/>
              <a:t>高風險雙簽懸停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7693891" y="4597868"/>
            <a:ext cx="2705633" cy="179231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defRPr sz="1200" b="1">
                <a:solidFill>
                  <a:srgbClr val="F87171"/>
                </a:solidFill>
              </a:defRPr>
            </a:pPr>
            <a:r>
              <a:rPr dirty="0"/>
              <a:t>💥 C-ABI </a:t>
            </a:r>
            <a:r>
              <a:rPr dirty="0" err="1"/>
              <a:t>帶內硬性阻斷</a:t>
            </a:r>
            <a:endParaRPr dirty="0"/>
          </a:p>
          <a:p>
            <a:pPr algn="ctr">
              <a:defRPr sz="1000">
                <a:solidFill>
                  <a:srgbClr val="CBD5E1"/>
                </a:solidFill>
              </a:defRPr>
            </a:pPr>
            <a:r>
              <a:rPr dirty="0"/>
              <a:t>HTTP 403 </a:t>
            </a:r>
            <a:r>
              <a:rPr dirty="0" err="1"/>
              <a:t>熔斷</a:t>
            </a:r>
            <a:r>
              <a:rPr dirty="0"/>
              <a:t> ➔ SHA-256 </a:t>
            </a:r>
            <a:r>
              <a:rPr dirty="0" err="1"/>
              <a:t>存證收據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731520" y="5841332"/>
            <a:ext cx="5547361" cy="57126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rPr dirty="0"/>
              <a:t>📜 【</a:t>
            </a:r>
            <a:r>
              <a:rPr dirty="0" err="1"/>
              <a:t>確定性執行產出</a:t>
            </a:r>
            <a:r>
              <a:rPr dirty="0"/>
              <a:t> / Merkle </a:t>
            </a:r>
            <a:r>
              <a:rPr dirty="0" err="1"/>
              <a:t>密碼學法庭存證鏈</a:t>
            </a:r>
            <a:r>
              <a:rPr dirty="0"/>
              <a:t> ＆ O(1) </a:t>
            </a:r>
            <a:r>
              <a:rPr dirty="0" err="1"/>
              <a:t>秒級撤銷</a:t>
            </a:r>
            <a:r>
              <a:rPr dirty="0"/>
              <a:t>】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15BE89E9-64C1-5818-9041-88D7D30372F0}"/>
              </a:ext>
            </a:extLst>
          </p:cNvPr>
          <p:cNvCxnSpPr/>
          <p:nvPr/>
        </p:nvCxnSpPr>
        <p:spPr>
          <a:xfrm flipH="1">
            <a:off x="3352800" y="2331720"/>
            <a:ext cx="655782" cy="208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B690188E-E3F9-B055-2A8E-B8725F1FB722}"/>
              </a:ext>
            </a:extLst>
          </p:cNvPr>
          <p:cNvCxnSpPr>
            <a:cxnSpLocks/>
          </p:cNvCxnSpPr>
          <p:nvPr/>
        </p:nvCxnSpPr>
        <p:spPr>
          <a:xfrm>
            <a:off x="8183420" y="2331720"/>
            <a:ext cx="720435" cy="208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0081A3AD-C1D5-B2D8-A6FF-4BED4EB37756}"/>
              </a:ext>
            </a:extLst>
          </p:cNvPr>
          <p:cNvCxnSpPr>
            <a:cxnSpLocks/>
          </p:cNvCxnSpPr>
          <p:nvPr/>
        </p:nvCxnSpPr>
        <p:spPr>
          <a:xfrm>
            <a:off x="2142837" y="4252887"/>
            <a:ext cx="0" cy="3449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F5419001-585F-7AF0-F40F-06F68FCB0842}"/>
              </a:ext>
            </a:extLst>
          </p:cNvPr>
          <p:cNvCxnSpPr>
            <a:cxnSpLocks/>
          </p:cNvCxnSpPr>
          <p:nvPr/>
        </p:nvCxnSpPr>
        <p:spPr>
          <a:xfrm>
            <a:off x="3505201" y="5023786"/>
            <a:ext cx="4267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F7A1C0B7-084F-2AD3-3BF3-CDEECFC47E4E}"/>
              </a:ext>
            </a:extLst>
          </p:cNvPr>
          <p:cNvCxnSpPr>
            <a:cxnSpLocks/>
          </p:cNvCxnSpPr>
          <p:nvPr/>
        </p:nvCxnSpPr>
        <p:spPr>
          <a:xfrm>
            <a:off x="5109246" y="5449704"/>
            <a:ext cx="0" cy="359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2748D434-1CBA-C294-E7CC-45243AEE15EE}"/>
              </a:ext>
            </a:extLst>
          </p:cNvPr>
          <p:cNvCxnSpPr>
            <a:cxnSpLocks/>
          </p:cNvCxnSpPr>
          <p:nvPr/>
        </p:nvCxnSpPr>
        <p:spPr>
          <a:xfrm>
            <a:off x="9060872" y="4252887"/>
            <a:ext cx="0" cy="3449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5693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rPr dirty="0"/>
              <a:t>● CROSS-INDUSTRY MAPPING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rPr lang="zh-TW" altLang="en-US" dirty="0"/>
              <a:t>一底兜百業</a:t>
            </a:r>
            <a:r>
              <a:rPr dirty="0"/>
              <a:t>：</a:t>
            </a:r>
            <a:r>
              <a:rPr lang="zh-TW" altLang="en-US" dirty="0"/>
              <a:t>六大產業痛點的</a:t>
            </a:r>
            <a:r>
              <a:rPr dirty="0"/>
              <a:t> Ingress / Egress </a:t>
            </a:r>
            <a:r>
              <a:rPr lang="zh-TW" altLang="en-US" dirty="0"/>
              <a:t>統一對照機制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1554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rPr sz="1400" dirty="0"/>
              <a:t>🏭 Track 01 </a:t>
            </a:r>
            <a:r>
              <a:rPr sz="1400" dirty="0" err="1"/>
              <a:t>製造碳護照</a:t>
            </a:r>
            <a:endParaRPr sz="1400" dirty="0"/>
          </a:p>
          <a:p>
            <a:pPr>
              <a:defRPr sz="1100">
                <a:solidFill>
                  <a:srgbClr val="F8FAFC"/>
                </a:solidFill>
              </a:defRPr>
            </a:pPr>
            <a:r>
              <a:rPr sz="1400" dirty="0"/>
              <a:t>📥 Ingress: </a:t>
            </a:r>
            <a:r>
              <a:rPr sz="1400" dirty="0" err="1"/>
              <a:t>動態</a:t>
            </a:r>
            <a:r>
              <a:rPr sz="1400" dirty="0"/>
              <a:t> </a:t>
            </a:r>
            <a:r>
              <a:rPr sz="1400" dirty="0" err="1"/>
              <a:t>Redact：隔離</a:t>
            </a:r>
            <a:r>
              <a:rPr sz="1400" dirty="0"/>
              <a:t> BOM </a:t>
            </a:r>
            <a:r>
              <a:rPr sz="1400" dirty="0" err="1"/>
              <a:t>原料成本</a:t>
            </a:r>
            <a:r>
              <a:rPr sz="1400" dirty="0"/>
              <a:t>/</a:t>
            </a:r>
            <a:r>
              <a:rPr sz="1400" dirty="0" err="1"/>
              <a:t>良率，僅輸入碳排係數</a:t>
            </a:r>
            <a:r>
              <a:rPr sz="1400" dirty="0"/>
              <a:t>。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rPr sz="1400" dirty="0"/>
              <a:t>📤 Egress: CBAM </a:t>
            </a:r>
            <a:r>
              <a:rPr sz="1400" dirty="0" err="1"/>
              <a:t>門閥：輸出機密瞬間熔斷，僅放行</a:t>
            </a:r>
            <a:r>
              <a:rPr sz="1400" dirty="0"/>
              <a:t> ZKP </a:t>
            </a:r>
            <a:r>
              <a:rPr sz="1400" dirty="0" err="1"/>
              <a:t>碳排憑證</a:t>
            </a:r>
            <a:r>
              <a:rPr sz="1400" dirty="0"/>
              <a:t>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280160"/>
            <a:ext cx="5212080" cy="1554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defRPr sz="1300" b="1">
                <a:solidFill>
                  <a:srgbClr val="4ADE80"/>
                </a:solidFill>
              </a:defRPr>
            </a:pPr>
            <a:r>
              <a:rPr sz="1400" dirty="0"/>
              <a:t>🏭 Track 02 </a:t>
            </a:r>
            <a:r>
              <a:rPr sz="1400" dirty="0" err="1"/>
              <a:t>電支</a:t>
            </a:r>
            <a:r>
              <a:rPr sz="1400" dirty="0"/>
              <a:t> AML </a:t>
            </a:r>
            <a:r>
              <a:rPr sz="1400" dirty="0" err="1"/>
              <a:t>風控</a:t>
            </a:r>
            <a:endParaRPr sz="1400" dirty="0"/>
          </a:p>
          <a:p>
            <a:pPr>
              <a:defRPr sz="1100">
                <a:solidFill>
                  <a:srgbClr val="F8FAFC"/>
                </a:solidFill>
              </a:defRPr>
            </a:pPr>
            <a:r>
              <a:rPr sz="1400" dirty="0"/>
              <a:t>📥 Ingress: </a:t>
            </a:r>
            <a:r>
              <a:rPr sz="1400" dirty="0" err="1"/>
              <a:t>去識別化密態特徵：遮蔽姓名</a:t>
            </a:r>
            <a:r>
              <a:rPr sz="1400" dirty="0"/>
              <a:t>/</a:t>
            </a:r>
            <a:r>
              <a:rPr sz="1400" dirty="0" err="1"/>
              <a:t>身分證</a:t>
            </a:r>
            <a:r>
              <a:rPr sz="1400" dirty="0"/>
              <a:t>/</a:t>
            </a:r>
            <a:r>
              <a:rPr sz="1400" dirty="0" err="1"/>
              <a:t>帳戶明細，提供圖向量</a:t>
            </a:r>
            <a:r>
              <a:rPr sz="1400" dirty="0"/>
              <a:t>。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rPr sz="1400" dirty="0"/>
              <a:t>📤 Egress: </a:t>
            </a:r>
            <a:r>
              <a:rPr sz="1400" dirty="0" err="1"/>
              <a:t>微秒支付阻斷：洗錢特徵瞬間</a:t>
            </a:r>
            <a:r>
              <a:rPr sz="1400" dirty="0"/>
              <a:t> C-ABI </a:t>
            </a:r>
            <a:r>
              <a:rPr sz="1400" dirty="0" err="1"/>
              <a:t>懸停，觸發雙簽</a:t>
            </a:r>
            <a:r>
              <a:rPr sz="1400" dirty="0"/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5212080" cy="1554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defRPr sz="1300" b="1">
                <a:solidFill>
                  <a:srgbClr val="F87171"/>
                </a:solidFill>
              </a:defRPr>
            </a:pPr>
            <a:r>
              <a:rPr sz="1400" dirty="0"/>
              <a:t>🏭 Track 03 </a:t>
            </a:r>
            <a:r>
              <a:rPr sz="1400" dirty="0" err="1"/>
              <a:t>醫療保險理賠</a:t>
            </a:r>
            <a:endParaRPr sz="1400" dirty="0"/>
          </a:p>
          <a:p>
            <a:pPr>
              <a:defRPr sz="1100">
                <a:solidFill>
                  <a:srgbClr val="F8FAFC"/>
                </a:solidFill>
              </a:defRPr>
            </a:pPr>
            <a:r>
              <a:rPr sz="1400" dirty="0"/>
              <a:t>📥 Ingress: 18項 PHI </a:t>
            </a:r>
            <a:r>
              <a:rPr sz="1400" dirty="0" err="1"/>
              <a:t>自動遮蔽：病歷與基因嚴密隔離，輸入診斷碼</a:t>
            </a:r>
            <a:r>
              <a:rPr sz="1400" dirty="0"/>
              <a:t>/</a:t>
            </a:r>
            <a:r>
              <a:rPr sz="1400" dirty="0" err="1"/>
              <a:t>金額</a:t>
            </a:r>
            <a:r>
              <a:rPr sz="1400" dirty="0"/>
              <a:t>。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rPr sz="1400" dirty="0"/>
              <a:t>📤 Egress: </a:t>
            </a:r>
            <a:r>
              <a:rPr sz="1400" dirty="0" err="1"/>
              <a:t>保險聯盟鏈對接：越權調閱</a:t>
            </a:r>
            <a:r>
              <a:rPr sz="1400" dirty="0"/>
              <a:t> 26.1μs </a:t>
            </a:r>
            <a:r>
              <a:rPr sz="1400" dirty="0" err="1"/>
              <a:t>硬熔斷，放行出具</a:t>
            </a:r>
            <a:r>
              <a:rPr sz="1400" dirty="0"/>
              <a:t> Merkle。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2971800"/>
            <a:ext cx="5212080" cy="1554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rPr sz="1400" dirty="0"/>
              <a:t>🏭 Track 04 </a:t>
            </a:r>
            <a:r>
              <a:rPr sz="1400" dirty="0" err="1"/>
              <a:t>政府跨機關代辦</a:t>
            </a:r>
            <a:endParaRPr sz="1400" dirty="0"/>
          </a:p>
          <a:p>
            <a:pPr>
              <a:defRPr sz="1100">
                <a:solidFill>
                  <a:srgbClr val="F8FAFC"/>
                </a:solidFill>
              </a:defRPr>
            </a:pPr>
            <a:r>
              <a:rPr sz="1400" dirty="0"/>
              <a:t>📥 Ingress: </a:t>
            </a:r>
            <a:r>
              <a:rPr sz="1400" dirty="0" err="1"/>
              <a:t>三層代理過濾：事務所</a:t>
            </a:r>
            <a:r>
              <a:rPr sz="1400" dirty="0"/>
              <a:t> </a:t>
            </a:r>
            <a:r>
              <a:rPr sz="1400" dirty="0" err="1"/>
              <a:t>vLEI</a:t>
            </a:r>
            <a:r>
              <a:rPr sz="1400" dirty="0"/>
              <a:t> </a:t>
            </a:r>
            <a:r>
              <a:rPr sz="1400" dirty="0" err="1"/>
              <a:t>僅取所得級距，隔離完整稅籍</a:t>
            </a:r>
            <a:r>
              <a:rPr sz="1400" dirty="0"/>
              <a:t>。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rPr sz="1400" dirty="0"/>
              <a:t>📤 Egress: </a:t>
            </a:r>
            <a:r>
              <a:rPr sz="1400" dirty="0" err="1"/>
              <a:t>代送件越權阻斷：越權調閱戶政瞬間攔截，出具</a:t>
            </a:r>
            <a:r>
              <a:rPr sz="1400" dirty="0"/>
              <a:t> W3C VC </a:t>
            </a:r>
            <a:r>
              <a:rPr sz="1400" dirty="0" err="1"/>
              <a:t>收據</a:t>
            </a:r>
            <a:r>
              <a:rPr sz="1400" dirty="0"/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5212080" cy="1554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defRPr sz="1300" b="1">
                <a:solidFill>
                  <a:srgbClr val="C084FC"/>
                </a:solidFill>
              </a:defRPr>
            </a:pPr>
            <a:r>
              <a:rPr sz="1400" dirty="0"/>
              <a:t>🏭 Track 05 </a:t>
            </a:r>
            <a:r>
              <a:rPr sz="1400" dirty="0" err="1"/>
              <a:t>移工普惠金融</a:t>
            </a:r>
            <a:endParaRPr sz="1400" dirty="0"/>
          </a:p>
          <a:p>
            <a:pPr>
              <a:defRPr sz="1100">
                <a:solidFill>
                  <a:srgbClr val="F8FAFC"/>
                </a:solidFill>
              </a:defRPr>
            </a:pPr>
            <a:r>
              <a:rPr sz="1400" dirty="0"/>
              <a:t>📥 Ingress: 1:1:1 </a:t>
            </a:r>
            <a:r>
              <a:rPr sz="1400" dirty="0" err="1"/>
              <a:t>複合身分綁定：護照+居留證+門號為</a:t>
            </a:r>
            <a:r>
              <a:rPr sz="1400" dirty="0"/>
              <a:t> </a:t>
            </a:r>
            <a:r>
              <a:rPr sz="1400" dirty="0" err="1"/>
              <a:t>DIT，隱匿密碼</a:t>
            </a:r>
            <a:r>
              <a:rPr sz="1400" dirty="0"/>
              <a:t>。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rPr sz="1400" dirty="0"/>
              <a:t>📤 Egress: SIM Swap </a:t>
            </a:r>
            <a:r>
              <a:rPr sz="1400" dirty="0" err="1"/>
              <a:t>連鎖凍結：換卡</a:t>
            </a:r>
            <a:r>
              <a:rPr sz="1400" dirty="0"/>
              <a:t>/</a:t>
            </a:r>
            <a:r>
              <a:rPr sz="1400" dirty="0" err="1"/>
              <a:t>異常轉帳</a:t>
            </a:r>
            <a:r>
              <a:rPr sz="1400" dirty="0"/>
              <a:t> O(1) </a:t>
            </a:r>
            <a:r>
              <a:rPr sz="1400" dirty="0" err="1"/>
              <a:t>原子指針秒凍結</a:t>
            </a:r>
            <a:r>
              <a:rPr sz="1400" dirty="0"/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4663440"/>
            <a:ext cx="5212080" cy="1554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rPr sz="1400" dirty="0"/>
              <a:t>🏭 Track 06 </a:t>
            </a:r>
            <a:r>
              <a:rPr sz="1400" dirty="0" err="1"/>
              <a:t>供應鏈</a:t>
            </a:r>
            <a:r>
              <a:rPr sz="1400" dirty="0"/>
              <a:t> RBA </a:t>
            </a:r>
            <a:r>
              <a:rPr sz="1400" dirty="0" err="1"/>
              <a:t>稽核</a:t>
            </a:r>
            <a:endParaRPr sz="1400" dirty="0"/>
          </a:p>
          <a:p>
            <a:pPr>
              <a:defRPr sz="1100">
                <a:solidFill>
                  <a:srgbClr val="F8FAFC"/>
                </a:solidFill>
              </a:defRPr>
            </a:pPr>
            <a:r>
              <a:rPr sz="1400" dirty="0"/>
              <a:t>📥 Ingress: </a:t>
            </a:r>
            <a:r>
              <a:rPr sz="1400" dirty="0" err="1"/>
              <a:t>選擇性揭露</a:t>
            </a:r>
            <a:r>
              <a:rPr sz="1400" dirty="0"/>
              <a:t> </a:t>
            </a:r>
            <a:r>
              <a:rPr sz="1400" dirty="0" err="1"/>
              <a:t>ZKP-Lite：採購</a:t>
            </a:r>
            <a:r>
              <a:rPr sz="1400" dirty="0"/>
              <a:t> AI </a:t>
            </a:r>
            <a:r>
              <a:rPr sz="1400" dirty="0" err="1"/>
              <a:t>僅讀合規</a:t>
            </a:r>
            <a:r>
              <a:rPr sz="1400" dirty="0"/>
              <a:t> </a:t>
            </a:r>
            <a:r>
              <a:rPr sz="1400" dirty="0" err="1"/>
              <a:t>TRUE，無法讀薪資</a:t>
            </a:r>
            <a:r>
              <a:rPr sz="1400" dirty="0"/>
              <a:t>。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rPr sz="1400" dirty="0"/>
              <a:t>📤 Egress: </a:t>
            </a:r>
            <a:r>
              <a:rPr sz="1400" dirty="0" err="1"/>
              <a:t>雇主付費存證：物理鎖定採購</a:t>
            </a:r>
            <a:r>
              <a:rPr sz="1400" dirty="0"/>
              <a:t> </a:t>
            </a:r>
            <a:r>
              <a:rPr sz="1400" dirty="0" err="1"/>
              <a:t>Tool，越權即熔斷產出收據</a:t>
            </a:r>
            <a:r>
              <a:rPr sz="1400" dirty="0"/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5693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rPr dirty="0"/>
              <a:t>● ACADEMIC &amp; ENGINEERING BASE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rPr lang="zh-TW" altLang="en-US" dirty="0"/>
              <a:t>技術底座</a:t>
            </a:r>
            <a:r>
              <a:rPr dirty="0"/>
              <a:t>：</a:t>
            </a:r>
            <a:r>
              <a:rPr lang="zh-TW" altLang="en-US" dirty="0"/>
              <a:t>核心論文</a:t>
            </a:r>
            <a:r>
              <a:rPr dirty="0">
                <a:latin typeface="+mn-ea"/>
              </a:rPr>
              <a:t>、GitHub 100%</a:t>
            </a:r>
            <a:r>
              <a:rPr lang="zh-TW" altLang="en-US" dirty="0">
                <a:latin typeface="+mn-ea"/>
              </a:rPr>
              <a:t>驗證倉 與</a:t>
            </a:r>
            <a:r>
              <a:rPr dirty="0">
                <a:latin typeface="+mn-ea"/>
              </a:rPr>
              <a:t>「</a:t>
            </a:r>
            <a:r>
              <a:rPr lang="zh-TW" altLang="en-US" dirty="0">
                <a:latin typeface="+mn-ea"/>
              </a:rPr>
              <a:t>個人免費授權彩蛋</a:t>
            </a:r>
            <a:r>
              <a:rPr dirty="0">
                <a:latin typeface="+mn-ea"/>
              </a:rPr>
              <a:t>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4289367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rPr lang="zh-TW" altLang="en-US" sz="2000" dirty="0"/>
              <a:t>核心技術論文三部曲</a:t>
            </a:r>
            <a:endParaRPr lang="en-US" sz="2000" dirty="0"/>
          </a:p>
          <a:p>
            <a:pPr algn="ctr">
              <a:defRPr sz="1600" b="1">
                <a:solidFill>
                  <a:srgbClr val="38BDF8"/>
                </a:solidFill>
              </a:defRPr>
            </a:pPr>
            <a:endParaRPr dirty="0"/>
          </a:p>
          <a:p>
            <a:pPr>
              <a:defRPr sz="1450" b="1">
                <a:solidFill>
                  <a:srgbClr val="F8FAFC"/>
                </a:solidFill>
              </a:defRPr>
            </a:pPr>
            <a:r>
              <a:rPr dirty="0"/>
              <a:t>• 📖 </a:t>
            </a:r>
            <a:r>
              <a:rPr dirty="0" err="1"/>
              <a:t>學術導讀指南</a:t>
            </a:r>
            <a:r>
              <a:rPr dirty="0"/>
              <a:t> (Guide Note)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rPr dirty="0"/>
              <a:t>   DOI: 10.5281/zenodo.22114036 (</a:t>
            </a:r>
            <a:r>
              <a:rPr dirty="0" err="1"/>
              <a:t>自主</a:t>
            </a:r>
            <a:r>
              <a:rPr dirty="0"/>
              <a:t> AI </a:t>
            </a:r>
            <a:r>
              <a:rPr dirty="0" err="1"/>
              <a:t>確定性作業基板</a:t>
            </a:r>
            <a:r>
              <a:rPr dirty="0"/>
              <a:t>)</a:t>
            </a:r>
            <a:endParaRPr lang="en-US" dirty="0"/>
          </a:p>
          <a:p>
            <a:pPr>
              <a:defRPr sz="1300">
                <a:solidFill>
                  <a:srgbClr val="CBD5E1"/>
                </a:solidFill>
              </a:defRPr>
            </a:pPr>
            <a:endParaRPr dirty="0"/>
          </a:p>
          <a:p>
            <a:pPr>
              <a:defRPr sz="1450" b="1">
                <a:solidFill>
                  <a:srgbClr val="F8FAFC"/>
                </a:solidFill>
              </a:defRPr>
            </a:pPr>
            <a:r>
              <a:rPr dirty="0"/>
              <a:t>• 🏛️ Paper 1: DROS-6P </a:t>
            </a:r>
            <a:r>
              <a:rPr dirty="0" err="1"/>
              <a:t>閉環架構</a:t>
            </a:r>
            <a:endParaRPr dirty="0"/>
          </a:p>
          <a:p>
            <a:pPr>
              <a:defRPr sz="1300">
                <a:solidFill>
                  <a:srgbClr val="CBD5E1"/>
                </a:solidFill>
              </a:defRPr>
            </a:pPr>
            <a:r>
              <a:rPr dirty="0"/>
              <a:t>   DOI: 10.5281/zenodo.21833970 (</a:t>
            </a:r>
            <a:r>
              <a:rPr dirty="0" err="1"/>
              <a:t>六大信任邊界執行期治理</a:t>
            </a:r>
            <a:r>
              <a:rPr dirty="0"/>
              <a:t>)</a:t>
            </a:r>
            <a:endParaRPr lang="en-US" dirty="0"/>
          </a:p>
          <a:p>
            <a:pPr>
              <a:defRPr sz="1300">
                <a:solidFill>
                  <a:srgbClr val="CBD5E1"/>
                </a:solidFill>
              </a:defRPr>
            </a:pPr>
            <a:endParaRPr dirty="0"/>
          </a:p>
          <a:p>
            <a:pPr>
              <a:defRPr sz="1450" b="1">
                <a:solidFill>
                  <a:srgbClr val="F8FAFC"/>
                </a:solidFill>
              </a:defRPr>
            </a:pPr>
            <a:r>
              <a:rPr dirty="0"/>
              <a:t>• 🏛️ Paper 2: DROS </a:t>
            </a:r>
            <a:r>
              <a:rPr dirty="0" err="1"/>
              <a:t>四層操作系統</a:t>
            </a:r>
            <a:endParaRPr dirty="0"/>
          </a:p>
          <a:p>
            <a:pPr>
              <a:defRPr sz="1300">
                <a:solidFill>
                  <a:srgbClr val="CBD5E1"/>
                </a:solidFill>
              </a:defRPr>
            </a:pPr>
            <a:r>
              <a:rPr dirty="0"/>
              <a:t>   DOI: 10.5281/zenodo.22092008 (</a:t>
            </a:r>
            <a:r>
              <a:rPr dirty="0" err="1"/>
              <a:t>彌合代理人至執行歸因鴻溝</a:t>
            </a:r>
            <a:r>
              <a:rPr dirty="0"/>
              <a:t>)</a:t>
            </a:r>
            <a:endParaRPr lang="en-US" dirty="0"/>
          </a:p>
          <a:p>
            <a:pPr>
              <a:defRPr sz="1300">
                <a:solidFill>
                  <a:srgbClr val="CBD5E1"/>
                </a:solidFill>
              </a:defRPr>
            </a:pPr>
            <a:endParaRPr dirty="0"/>
          </a:p>
          <a:p>
            <a:pPr>
              <a:defRPr sz="1450" b="1">
                <a:solidFill>
                  <a:srgbClr val="F8FAFC"/>
                </a:solidFill>
              </a:defRPr>
            </a:pPr>
            <a:r>
              <a:rPr dirty="0"/>
              <a:t>• 🏛️ Paper 3: DROS-PGM </a:t>
            </a:r>
            <a:r>
              <a:rPr dirty="0" err="1"/>
              <a:t>控制平面</a:t>
            </a:r>
            <a:endParaRPr dirty="0"/>
          </a:p>
          <a:p>
            <a:pPr>
              <a:defRPr sz="1300">
                <a:solidFill>
                  <a:srgbClr val="CBD5E1"/>
                </a:solidFill>
              </a:defRPr>
            </a:pPr>
            <a:r>
              <a:rPr dirty="0"/>
              <a:t>   DOI: 10.5281/zenodo.21903687 (</a:t>
            </a:r>
            <a:r>
              <a:rPr dirty="0" err="1"/>
              <a:t>內核級運行安全與微秒硬熔斷</a:t>
            </a:r>
            <a:r>
              <a:rPr dirty="0"/>
              <a:t>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280160"/>
            <a:ext cx="5212080" cy="4289367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defRPr sz="1550" b="1">
                <a:solidFill>
                  <a:srgbClr val="4ADE80"/>
                </a:solidFill>
              </a:defRPr>
            </a:pPr>
            <a:r>
              <a:rPr sz="2000" dirty="0"/>
              <a:t>GitHub 100% </a:t>
            </a:r>
            <a:r>
              <a:rPr lang="zh-TW" altLang="en-US" sz="2000" dirty="0"/>
              <a:t>驗證倉</a:t>
            </a:r>
            <a:r>
              <a:rPr sz="2000" dirty="0"/>
              <a:t>＆</a:t>
            </a:r>
            <a:r>
              <a:rPr lang="zh-TW" altLang="en-US" sz="2000" dirty="0"/>
              <a:t>全民安全彩蛋</a:t>
            </a:r>
            <a:endParaRPr lang="en-US" altLang="zh-TW" sz="2000" dirty="0"/>
          </a:p>
          <a:p>
            <a:pPr algn="ctr">
              <a:defRPr sz="1550" b="1">
                <a:solidFill>
                  <a:srgbClr val="4ADE80"/>
                </a:solidFill>
              </a:defRPr>
            </a:pPr>
            <a:endParaRPr dirty="0"/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rPr dirty="0"/>
              <a:t>• 🌐 Hackathon Showcase </a:t>
            </a:r>
            <a:r>
              <a:rPr dirty="0" err="1"/>
              <a:t>展演主倉</a:t>
            </a:r>
            <a:endParaRPr dirty="0"/>
          </a:p>
          <a:p>
            <a:pPr>
              <a:defRPr sz="1250">
                <a:solidFill>
                  <a:srgbClr val="CBD5E1"/>
                </a:solidFill>
              </a:defRPr>
            </a:pPr>
            <a:r>
              <a:rPr dirty="0"/>
              <a:t>   github.com/Top-Celestial-Company-Ltd/DROS-Hackathon-Showcase</a:t>
            </a:r>
            <a:endParaRPr lang="en-US" dirty="0"/>
          </a:p>
          <a:p>
            <a:pPr>
              <a:defRPr sz="1250">
                <a:solidFill>
                  <a:srgbClr val="CBD5E1"/>
                </a:solidFill>
              </a:defRPr>
            </a:pPr>
            <a:endParaRPr dirty="0"/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rPr dirty="0"/>
              <a:t>• 🛡️ DROS-VEP Lite </a:t>
            </a:r>
            <a:r>
              <a:rPr dirty="0" err="1"/>
              <a:t>核心評測倉</a:t>
            </a:r>
            <a:endParaRPr dirty="0"/>
          </a:p>
          <a:p>
            <a:pPr>
              <a:defRPr sz="1250">
                <a:solidFill>
                  <a:srgbClr val="CBD5E1"/>
                </a:solidFill>
              </a:defRPr>
            </a:pPr>
            <a:r>
              <a:rPr dirty="0"/>
              <a:t>   github.com/Top-Celestial-Company-Ltd/DROS-VEP-lite (0.001s PASS)</a:t>
            </a:r>
            <a:endParaRPr lang="en-US" dirty="0"/>
          </a:p>
          <a:p>
            <a:pPr>
              <a:defRPr sz="1250">
                <a:solidFill>
                  <a:srgbClr val="CBD5E1"/>
                </a:solidFill>
              </a:defRPr>
            </a:pPr>
            <a:endParaRPr dirty="0"/>
          </a:p>
          <a:p>
            <a:pPr>
              <a:defRPr sz="1400" b="1">
                <a:solidFill>
                  <a:srgbClr val="FBBF24"/>
                </a:solidFill>
              </a:defRPr>
            </a:pPr>
            <a:r>
              <a:rPr dirty="0"/>
              <a:t>• 🎁【</a:t>
            </a:r>
            <a:r>
              <a:rPr dirty="0" err="1"/>
              <a:t>個人</a:t>
            </a:r>
            <a:r>
              <a:rPr dirty="0"/>
              <a:t> Free </a:t>
            </a:r>
            <a:r>
              <a:rPr dirty="0" err="1"/>
              <a:t>安全彩蛋】全民基建</a:t>
            </a:r>
            <a:r>
              <a:rPr dirty="0"/>
              <a:t>！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rPr dirty="0"/>
              <a:t>   NPM </a:t>
            </a:r>
            <a:r>
              <a:rPr dirty="0" err="1"/>
              <a:t>套件</a:t>
            </a:r>
            <a:r>
              <a:rPr dirty="0"/>
              <a:t>: </a:t>
            </a:r>
            <a:r>
              <a:rPr dirty="0" err="1"/>
              <a:t>npm</a:t>
            </a:r>
            <a:r>
              <a:rPr dirty="0"/>
              <a:t> install </a:t>
            </a:r>
            <a:r>
              <a:rPr dirty="0" err="1"/>
              <a:t>dsh</a:t>
            </a:r>
            <a:r>
              <a:rPr dirty="0"/>
              <a:t>-plugin-</a:t>
            </a:r>
            <a:r>
              <a:rPr dirty="0" err="1"/>
              <a:t>vajraclaw</a:t>
            </a:r>
            <a:br>
              <a:rPr dirty="0"/>
            </a:br>
            <a:r>
              <a:rPr dirty="0"/>
              <a:t>👉 </a:t>
            </a:r>
            <a:r>
              <a:rPr dirty="0" err="1"/>
              <a:t>提供「個人非商業永久免費授權</a:t>
            </a:r>
            <a:r>
              <a:rPr dirty="0"/>
              <a:t>」，享 1 </a:t>
            </a:r>
            <a:r>
              <a:rPr dirty="0" err="1"/>
              <a:t>微秒帶內硬熔斷保護</a:t>
            </a:r>
            <a:r>
              <a:rPr dirty="0"/>
              <a:t>！</a:t>
            </a:r>
            <a:endParaRPr lang="en-US" dirty="0"/>
          </a:p>
          <a:p>
            <a:pPr>
              <a:defRPr sz="1250">
                <a:solidFill>
                  <a:srgbClr val="F8FAFC"/>
                </a:solidFill>
              </a:defRPr>
            </a:pPr>
            <a:endParaRPr dirty="0"/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rPr dirty="0"/>
              <a:t>• 🔒 </a:t>
            </a:r>
            <a:r>
              <a:rPr dirty="0" err="1"/>
              <a:t>美國臨時專利保護</a:t>
            </a:r>
            <a:r>
              <a:rPr dirty="0"/>
              <a:t> (Patent Pending)</a:t>
            </a:r>
          </a:p>
          <a:p>
            <a:pPr>
              <a:defRPr sz="1250">
                <a:solidFill>
                  <a:srgbClr val="CBD5E1"/>
                </a:solidFill>
              </a:defRPr>
            </a:pPr>
            <a:r>
              <a:rPr dirty="0"/>
              <a:t>   U.S. Provisional Patent Application No. 64/111,973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87DEB3D-02D8-D81B-9F8C-974DCCC0156D}"/>
              </a:ext>
            </a:extLst>
          </p:cNvPr>
          <p:cNvSpPr txBox="1"/>
          <p:nvPr/>
        </p:nvSpPr>
        <p:spPr>
          <a:xfrm>
            <a:off x="3943774" y="5955223"/>
            <a:ext cx="4304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solidFill>
                  <a:schemeClr val="bg1"/>
                </a:solidFill>
              </a:rPr>
              <a:t>官網：</a:t>
            </a:r>
            <a:r>
              <a:rPr lang="en-US" altLang="zh-TW" sz="24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https://dr-os.io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● ARCHITECTURE MAP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OpenShip × Multi-VEP 全景技術架構與現實信任接軌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19195"/>
            <a:ext cx="10728655" cy="1948873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rPr sz="2000" dirty="0"/>
              <a:t>🌐 </a:t>
            </a:r>
            <a:r>
              <a:rPr sz="2000" dirty="0" err="1"/>
              <a:t>現實世界三大信任錨點</a:t>
            </a:r>
            <a:r>
              <a:rPr sz="2000" dirty="0"/>
              <a:t> (Real-World Trust Anchors)</a:t>
            </a:r>
            <a:endParaRPr lang="en-US" sz="2000" dirty="0"/>
          </a:p>
          <a:p>
            <a:pPr algn="ctr">
              <a:defRPr sz="1500" b="1">
                <a:solidFill>
                  <a:srgbClr val="38BDF8"/>
                </a:solidFill>
              </a:defRPr>
            </a:pPr>
            <a:endParaRPr sz="2000" dirty="0"/>
          </a:p>
          <a:p>
            <a:pPr algn="ctr">
              <a:defRPr sz="1350">
                <a:solidFill>
                  <a:srgbClr val="F8FAFC"/>
                </a:solidFill>
              </a:defRPr>
            </a:pPr>
            <a:r>
              <a:rPr dirty="0"/>
              <a:t>• </a:t>
            </a:r>
            <a:r>
              <a:rPr dirty="0" err="1"/>
              <a:t>法人端：GLEIF</a:t>
            </a:r>
            <a:r>
              <a:rPr dirty="0"/>
              <a:t> </a:t>
            </a:r>
            <a:r>
              <a:rPr dirty="0" err="1"/>
              <a:t>國際組織</a:t>
            </a:r>
            <a:r>
              <a:rPr dirty="0"/>
              <a:t> </a:t>
            </a:r>
            <a:r>
              <a:rPr dirty="0" err="1"/>
              <a:t>vLEI</a:t>
            </a:r>
            <a:r>
              <a:rPr dirty="0"/>
              <a:t> </a:t>
            </a:r>
            <a:r>
              <a:rPr dirty="0" err="1"/>
              <a:t>憑證與法定代理人授權鏈</a:t>
            </a:r>
            <a:r>
              <a:rPr dirty="0"/>
              <a:t> (Mandates)</a:t>
            </a:r>
            <a:endParaRPr lang="en-US" dirty="0"/>
          </a:p>
          <a:p>
            <a:pPr algn="ctr">
              <a:defRPr sz="1350">
                <a:solidFill>
                  <a:srgbClr val="F8FAFC"/>
                </a:solidFill>
              </a:defRPr>
            </a:pPr>
            <a:br>
              <a:rPr dirty="0"/>
            </a:br>
            <a:r>
              <a:rPr dirty="0"/>
              <a:t>• 個人端：W3C DID / </a:t>
            </a:r>
            <a:r>
              <a:rPr dirty="0" err="1"/>
              <a:t>數位身分皮夾與使用者自主宣告簽署</a:t>
            </a:r>
            <a:endParaRPr lang="en-US" dirty="0"/>
          </a:p>
          <a:p>
            <a:pPr algn="ctr">
              <a:defRPr sz="1350">
                <a:solidFill>
                  <a:srgbClr val="F8FAFC"/>
                </a:solidFill>
              </a:defRPr>
            </a:pPr>
            <a:br>
              <a:rPr dirty="0"/>
            </a:br>
            <a:r>
              <a:rPr dirty="0"/>
              <a:t>• </a:t>
            </a:r>
            <a:r>
              <a:rPr dirty="0" err="1"/>
              <a:t>國家端：數位發展部</a:t>
            </a:r>
            <a:r>
              <a:rPr dirty="0"/>
              <a:t> </a:t>
            </a:r>
            <a:r>
              <a:rPr dirty="0" err="1"/>
              <a:t>MyData</a:t>
            </a:r>
            <a:r>
              <a:rPr dirty="0"/>
              <a:t> / FIDO </a:t>
            </a:r>
            <a:r>
              <a:rPr dirty="0" err="1"/>
              <a:t>雙軌整合與法庭可採信證據邊界</a:t>
            </a:r>
            <a:endParaRPr lang="en-US" dirty="0"/>
          </a:p>
          <a:p>
            <a:pPr algn="ctr">
              <a:defRPr sz="1350">
                <a:solidFill>
                  <a:srgbClr val="F8FAFC"/>
                </a:solidFill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3463632"/>
            <a:ext cx="5212080" cy="296579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defRPr sz="1500" b="1">
                <a:solidFill>
                  <a:srgbClr val="4ADE80"/>
                </a:solidFill>
              </a:defRPr>
            </a:pPr>
            <a:r>
              <a:rPr sz="2000" dirty="0"/>
              <a:t>🏥 </a:t>
            </a:r>
            <a:r>
              <a:rPr sz="2000" dirty="0" err="1"/>
              <a:t>醫療</a:t>
            </a:r>
            <a:r>
              <a:rPr sz="2000" dirty="0"/>
              <a:t> VEP (Track 03 </a:t>
            </a:r>
            <a:r>
              <a:rPr sz="2000" dirty="0" err="1"/>
              <a:t>MediGuard</a:t>
            </a:r>
            <a:r>
              <a:rPr sz="2000" dirty="0"/>
              <a:t>)</a:t>
            </a:r>
            <a:endParaRPr lang="en-US" sz="2000" dirty="0"/>
          </a:p>
          <a:p>
            <a:pPr algn="ctr">
              <a:defRPr sz="1500" b="1">
                <a:solidFill>
                  <a:srgbClr val="4ADE80"/>
                </a:solidFill>
              </a:defRPr>
            </a:pPr>
            <a:endParaRPr dirty="0"/>
          </a:p>
          <a:p>
            <a:pPr algn="ctr">
              <a:defRPr sz="1350">
                <a:solidFill>
                  <a:srgbClr val="F8FAFC"/>
                </a:solidFill>
              </a:defRPr>
            </a:pPr>
            <a:r>
              <a:rPr dirty="0"/>
              <a:t>• 18項 PHI </a:t>
            </a:r>
            <a:r>
              <a:rPr dirty="0" err="1"/>
              <a:t>敏感個資動態</a:t>
            </a:r>
            <a:r>
              <a:rPr dirty="0"/>
              <a:t> Redact </a:t>
            </a:r>
            <a:r>
              <a:rPr dirty="0" err="1"/>
              <a:t>遮蔽</a:t>
            </a:r>
            <a:endParaRPr lang="en-US" dirty="0"/>
          </a:p>
          <a:p>
            <a:pPr algn="ctr">
              <a:defRPr sz="1350">
                <a:solidFill>
                  <a:srgbClr val="F8FAFC"/>
                </a:solidFill>
              </a:defRPr>
            </a:pPr>
            <a:br>
              <a:rPr dirty="0"/>
            </a:br>
            <a:r>
              <a:rPr dirty="0"/>
              <a:t>• </a:t>
            </a:r>
            <a:r>
              <a:rPr dirty="0" err="1"/>
              <a:t>精準對接壽險公會理賠聯盟鏈</a:t>
            </a:r>
            <a:endParaRPr lang="en-US" dirty="0"/>
          </a:p>
          <a:p>
            <a:pPr algn="ctr">
              <a:defRPr sz="1350">
                <a:solidFill>
                  <a:srgbClr val="F8FAFC"/>
                </a:solidFill>
              </a:defRPr>
            </a:pPr>
            <a:br>
              <a:rPr dirty="0"/>
            </a:br>
            <a:r>
              <a:rPr dirty="0"/>
              <a:t>• </a:t>
            </a:r>
            <a:r>
              <a:rPr dirty="0" err="1"/>
              <a:t>越權調閱病歷</a:t>
            </a:r>
            <a:r>
              <a:rPr dirty="0"/>
              <a:t> ➔ 26.1 </a:t>
            </a:r>
            <a:r>
              <a:rPr dirty="0" err="1"/>
              <a:t>μs</a:t>
            </a:r>
            <a:r>
              <a:rPr dirty="0"/>
              <a:t> </a:t>
            </a:r>
            <a:r>
              <a:rPr dirty="0" err="1"/>
              <a:t>帶內硬熔斷</a:t>
            </a:r>
            <a:endParaRPr lang="en-US" dirty="0"/>
          </a:p>
          <a:p>
            <a:pPr algn="ctr">
              <a:defRPr sz="1350">
                <a:solidFill>
                  <a:srgbClr val="F8FAFC"/>
                </a:solidFill>
              </a:defRPr>
            </a:pPr>
            <a:br>
              <a:rPr dirty="0"/>
            </a:br>
            <a:r>
              <a:rPr dirty="0"/>
              <a:t>• SHA-256 Merkle </a:t>
            </a:r>
            <a:r>
              <a:rPr dirty="0" err="1"/>
              <a:t>收據</a:t>
            </a:r>
            <a:r>
              <a:rPr dirty="0"/>
              <a:t> + O(1) </a:t>
            </a:r>
            <a:r>
              <a:rPr dirty="0" err="1"/>
              <a:t>立即撤銷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248095" y="3463631"/>
            <a:ext cx="5212080" cy="296579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defRPr sz="1500" b="1">
                <a:solidFill>
                  <a:srgbClr val="FBBF24"/>
                </a:solidFill>
              </a:defRPr>
            </a:pPr>
            <a:r>
              <a:rPr sz="2000" dirty="0"/>
              <a:t>🏛️ </a:t>
            </a:r>
            <a:r>
              <a:rPr sz="2000" dirty="0" err="1"/>
              <a:t>政府</a:t>
            </a:r>
            <a:r>
              <a:rPr sz="2000" dirty="0"/>
              <a:t> VEP (Track 04 </a:t>
            </a:r>
            <a:r>
              <a:rPr sz="2000" dirty="0" err="1"/>
              <a:t>GovProxy</a:t>
            </a:r>
            <a:r>
              <a:rPr sz="2000" dirty="0"/>
              <a:t>)</a:t>
            </a:r>
            <a:endParaRPr lang="en-US" sz="2000" dirty="0"/>
          </a:p>
          <a:p>
            <a:pPr algn="ctr">
              <a:defRPr sz="1500" b="1">
                <a:solidFill>
                  <a:srgbClr val="FBBF24"/>
                </a:solidFill>
              </a:defRPr>
            </a:pPr>
            <a:endParaRPr sz="2000" dirty="0"/>
          </a:p>
          <a:p>
            <a:pPr algn="ctr">
              <a:defRPr sz="1350">
                <a:solidFill>
                  <a:srgbClr val="F8FAFC"/>
                </a:solidFill>
              </a:defRPr>
            </a:pPr>
            <a:r>
              <a:rPr dirty="0"/>
              <a:t>• </a:t>
            </a:r>
            <a:r>
              <a:rPr dirty="0" err="1"/>
              <a:t>自然人</a:t>
            </a:r>
            <a:r>
              <a:rPr dirty="0"/>
              <a:t> </a:t>
            </a:r>
            <a:r>
              <a:rPr dirty="0" err="1"/>
              <a:t>MyData</a:t>
            </a:r>
            <a:r>
              <a:rPr dirty="0"/>
              <a:t> + </a:t>
            </a:r>
            <a:r>
              <a:rPr dirty="0" err="1"/>
              <a:t>事務所</a:t>
            </a:r>
            <a:r>
              <a:rPr dirty="0"/>
              <a:t> </a:t>
            </a:r>
            <a:r>
              <a:rPr dirty="0" err="1"/>
              <a:t>vLEI</a:t>
            </a:r>
            <a:r>
              <a:rPr dirty="0"/>
              <a:t> </a:t>
            </a:r>
            <a:r>
              <a:rPr dirty="0" err="1"/>
              <a:t>雙軌授權</a:t>
            </a:r>
            <a:endParaRPr lang="en-US" dirty="0"/>
          </a:p>
          <a:p>
            <a:pPr algn="ctr">
              <a:defRPr sz="1350">
                <a:solidFill>
                  <a:srgbClr val="F8FAFC"/>
                </a:solidFill>
              </a:defRPr>
            </a:pPr>
            <a:br>
              <a:rPr dirty="0"/>
            </a:br>
            <a:r>
              <a:rPr dirty="0"/>
              <a:t>• </a:t>
            </a:r>
            <a:r>
              <a:rPr dirty="0" err="1"/>
              <a:t>三層邊界：代查所得放行</a:t>
            </a:r>
            <a:r>
              <a:rPr dirty="0"/>
              <a:t> / </a:t>
            </a:r>
            <a:r>
              <a:rPr dirty="0" err="1"/>
              <a:t>稅籍隔離</a:t>
            </a:r>
            <a:endParaRPr lang="en-US" dirty="0"/>
          </a:p>
          <a:p>
            <a:pPr algn="ctr">
              <a:defRPr sz="1350">
                <a:solidFill>
                  <a:srgbClr val="F8FAFC"/>
                </a:solidFill>
              </a:defRPr>
            </a:pPr>
            <a:br>
              <a:rPr dirty="0"/>
            </a:br>
            <a:r>
              <a:rPr dirty="0"/>
              <a:t>• </a:t>
            </a:r>
            <a:r>
              <a:rPr dirty="0" err="1"/>
              <a:t>越權調閱全戶日誌</a:t>
            </a:r>
            <a:r>
              <a:rPr dirty="0"/>
              <a:t> ➔ </a:t>
            </a:r>
            <a:r>
              <a:rPr dirty="0" err="1"/>
              <a:t>瞬間拋出</a:t>
            </a:r>
            <a:r>
              <a:rPr dirty="0"/>
              <a:t> HTTP 403</a:t>
            </a:r>
            <a:endParaRPr lang="en-US" dirty="0"/>
          </a:p>
          <a:p>
            <a:pPr algn="ctr">
              <a:defRPr sz="1350">
                <a:solidFill>
                  <a:srgbClr val="F8FAFC"/>
                </a:solidFill>
              </a:defRPr>
            </a:pPr>
            <a:br>
              <a:rPr dirty="0"/>
            </a:br>
            <a:r>
              <a:rPr dirty="0"/>
              <a:t>• W3C </a:t>
            </a:r>
            <a:r>
              <a:rPr dirty="0" err="1"/>
              <a:t>可驗證憑證</a:t>
            </a:r>
            <a:r>
              <a:rPr dirty="0"/>
              <a:t> (VC) + </a:t>
            </a:r>
            <a:r>
              <a:rPr dirty="0" err="1"/>
              <a:t>代理一鍵廢止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1230</TotalTime>
  <Words>1357</Words>
  <Application>Microsoft Office PowerPoint</Application>
  <PresentationFormat>寬螢幕</PresentationFormat>
  <Paragraphs>230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Aptos</vt:lpstr>
      <vt:lpstr>Gen Jyuu Gothic LP Heavy</vt:lpstr>
      <vt:lpstr>Microsoft Yahei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Jimmy Chen</cp:lastModifiedBy>
  <cp:revision>42</cp:revision>
  <dcterms:created xsi:type="dcterms:W3CDTF">2013-01-27T09:14:16Z</dcterms:created>
  <dcterms:modified xsi:type="dcterms:W3CDTF">2026-08-29T16:28:30Z</dcterms:modified>
  <cp:category/>
</cp:coreProperties>
</file>