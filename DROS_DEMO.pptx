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7286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TRUSTWORTHY AI HACKATHON 2026  |  TEAM DROS SHOWCASE</a:t>
            </a:r>
          </a:p>
          <a:p>
            <a:pPr>
              <a:defRPr sz="3000" b="1">
                <a:solidFill>
                  <a:srgbClr val="F8FAFC"/>
                </a:solidFill>
              </a:defRPr>
            </a:pPr>
            <a:r>
              <a:t>DROS: Deterministic Runtime Operating System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針對 AI Agent 執行期的確定性治理作業系統微內核 (C-ABI 帶內硬防禦)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68880"/>
            <a:ext cx="10728655" cy="38404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600" b="1">
                <a:solidFill>
                  <a:srgbClr val="38BDF8"/>
                </a:solidFill>
              </a:defRPr>
            </a:pPr>
            <a:r>
              <a:t>🏛️ DROS 雙重治理核心公理（開場核心洞察）</a:t>
            </a:r>
          </a:p>
          <a:p>
            <a:pPr>
              <a:defRPr sz="1300" b="1">
                <a:solidFill>
                  <a:srgbClr val="4ADE80"/>
                </a:solidFill>
              </a:defRPr>
            </a:pPr>
            <a:r>
              <a:t>定理一（前提與海闊天空）：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「治理是前提，而不是補丁。唯有在系統底層先完成確定性的執行閉環，再去對接應用層；才能在守住安全底線的同時，讓整個 AI 應用層真正海闊天空！」</a:t>
            </a:r>
          </a:p>
          <a:p>
            <a:pPr>
              <a:defRPr sz="1300" b="1">
                <a:solidFill>
                  <a:srgbClr val="C084FC"/>
                </a:solidFill>
              </a:defRPr>
            </a:pPr>
            <a:r>
              <a:t>定理二（海量與高頻存活）：</a:t>
            </a:r>
          </a:p>
          <a:p>
            <a:pPr>
              <a:defRPr sz="1400" b="1">
                <a:solidFill>
                  <a:srgbClr val="F8FAFC"/>
                </a:solidFill>
              </a:defRPr>
            </a:pPr>
            <a:r>
              <a:t>「治理的對象是 Agent。面對每秒數萬次的高頻 Tool Call 與海量代理併發，治理機制自己必須先能以微秒級延遲（26.1 μs）、零記憶體開銷存活下來，這更是確定性治理的第一前提。」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PROBLEM INSIGHT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產業致命痛點：企業只做了「核卡」，誰來管 Agent 執行期「刷卡」？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212080" cy="49377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600" b="1">
                <a:solidFill>
                  <a:srgbClr val="F87171"/>
                </a:solidFill>
              </a:defRPr>
            </a:pPr>
            <a:r>
              <a:t>❌ 現狀：Application-First 治理的死穴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身份核發即放任 (核卡不控刷)：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給予 Agent API Key 或憑證後，進入執行期完全失去微秒級行為約束。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Prompt Injection 越獄破壞：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黑客透過注入攻擊催眠 Agent，強制其發起未授權 API 呼叫與機密外洩。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事後無法法庭問責：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傳統 Log 缺乏密碼學前後哈希鏈結，事後串供偽造難以被法院採信。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昂貴且脆弱的軟防禦：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用另一隻 LLM 當裁判，延遲高達 2 秒且吞吐量雪崩，無法應對高頻場景。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8095" y="1371600"/>
            <a:ext cx="5212080" cy="49377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600" b="1">
                <a:solidFill>
                  <a:srgbClr val="4ADE80"/>
                </a:solidFill>
              </a:defRPr>
            </a:pPr>
            <a:r>
              <a:t>🛡️ DROS 解法：確定性帶內執行期門閥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管在 Execution Sink (刷卡點)：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不猜測 LLM 思考，只在 Agent 呼叫 Tool 的最後物理瞬間實施硬性裁決。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26.1 μs C-ABI 帶內硬熔斷：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以二進位 ABI 嵌入函式鏈，未授權呼叫瞬間拋出 HTTP 403，AI 物理無法繞過。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SHA-256 Merkle 證據鏈：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每次放行、熔斷、掛起即時產出防篡改收據，具備不可否認性法庭效力。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Zero-Heap 高頻極速架構：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暫存器級位元圖匹配，無 GC 停頓，每秒吞吐十萬級 Tool Call 穩健存活。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SYSTEMS PHILOSOPHY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抽象哲學：POSIX 與 DROS 在系統治理上的數學收斂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300" i="1">
                <a:solidFill>
                  <a:srgbClr val="38BDF8"/>
                </a:solidFill>
              </a:defRPr>
            </a:pPr>
            <a:r>
              <a:t>💡 POSIX did not eliminate application complexity; it eliminated the need for every application to reinvent the underlying operating-system interface.</a:t>
            </a:r>
          </a:p>
          <a:p>
            <a:pPr>
              <a:defRPr sz="1350" b="1">
                <a:solidFill>
                  <a:srgbClr val="F8FAFC"/>
                </a:solidFill>
              </a:defRPr>
            </a:pPr>
            <a:r>
              <a:t>DROS 將治理下沉為共享基礎設施：治理複雜度不再隨應用程式數量增長 (Governance complexity stops scaling with application count)！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834640"/>
            <a:ext cx="10728655" cy="34747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400" b="1">
                <a:solidFill>
                  <a:srgbClr val="C084FC"/>
                </a:solidFill>
              </a:defRPr>
            </a:pPr>
            <a:r>
              <a:t>📊 傳統 OS (POSIX) vs. DROS 確定性 AI Agent 治理作業系統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1. 執行主體 (Subject) │ POSIX: Process PID / User UID ➔ DROS: DIT Token (強綁定法人 vLEI / 自然人 MyData)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2. 權限邊界 (Permission) │ POSIX: File Permissions / POSIX ACL (rwx) ➔ DROS: Zero-Heap Capability Bitmaps (暫存器級位元圖)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3. 系統調用保護 (Syscall) │ POSIX: Ring 0 / Kernel Mode 記憶體隔離 ➔ DROS: C-ABI 帶內攔截閘門 (In-Band VEP Gate)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4. 異常處理 (Fault Handling) │ POSIX: SIGSEGV / SIGKILL 核心崩潰保護 ➔ DROS: 26.1 μs 帶內硬熔斷 (HTTP 403 Hard Circuit-Break)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5. 存取稽核 (Auditing) │ POSIX: auditd / Linux Journal 日誌 ➔ DROS: SHA-256 Merkle Hash 密碼學法庭存證鏈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6. 資源回收 (Revocation) │ POSIX: kill -9 / Process Terminate ➔ DROS: O(1) RCU 原子指針常數時間秒級動態撤銷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ARCHITECTURE MAP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OpenShip × Multi-VEP 全景技術架構與現實信任接軌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14630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🌐 頂層：現實世界三大信任錨點 (Real-World Trust Anchors)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法人信任：GLEIF 國際組織 vLEI 憑證與法定代理人授權鏈 (Mandates)</a:t>
            </a:r>
            <a:br/>
            <a:r>
              <a:t>• 個人信任：W3C DID / 數位身分皮夾與使用者自主宣告簽署</a:t>
            </a:r>
            <a:br/>
            <a:r>
              <a:t>• 國家法規：數位發展部 MyData / FIDO 雙軌整合與法庭可採信證據邊界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926080"/>
            <a:ext cx="5212080" cy="3383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400" b="1">
                <a:solidFill>
                  <a:srgbClr val="4ADE80"/>
                </a:solidFill>
              </a:defRPr>
            </a:pPr>
            <a:r>
              <a:t>🏥 醫療 VEP (Track 03 MediGuard)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18項 PHI 敏感個資動態 Redact 遮蔽</a:t>
            </a:r>
            <a:br/>
            <a:r>
              <a:t>• 精準對接壽險公會理賠聯盟鏈</a:t>
            </a:r>
            <a:br/>
            <a:r>
              <a:t>• 越權調閱病歷 ➔ 26.1 μs 帶內硬熔斷</a:t>
            </a:r>
            <a:br/>
            <a:r>
              <a:t>• SHA-256 Merkle 收據 + O(1) 立即撤銷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8095" y="2926080"/>
            <a:ext cx="5212080" cy="3383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400" b="1">
                <a:solidFill>
                  <a:srgbClr val="FBBF24"/>
                </a:solidFill>
              </a:defRPr>
            </a:pPr>
            <a:r>
              <a:t>🏛️ 政府 VEP (Track 04 GovProxy)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自然人 MyData + 事務所 vLEI 雙軌授權</a:t>
            </a:r>
            <a:br/>
            <a:r>
              <a:t>• 三層邊界：代查所得放行 / 稅籍隔離</a:t>
            </a:r>
            <a:br/>
            <a:r>
              <a:t>• 越權調閱全戶日誌 ➔ 瞬間拋出 HTTP 403</a:t>
            </a:r>
            <a:br/>
            <a:r>
              <a:t>• W3C 可驗證憑證 (VC) + 代理一鍵廢止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LIVE DEMONSTRATION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實機錄影演示：雙題目 90 秒確定性攻防與 6P 閉環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0728655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800" b="1">
                <a:solidFill>
                  <a:srgbClr val="F87171"/>
                </a:solidFill>
              </a:defRPr>
            </a:pPr>
            <a:r>
              <a:t>🎥 【90 秒實機操作錄影播放區 (Live Demo Video)】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▶ [00:00 - 00:15] OpenShip 主控頁遙測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展示 Multi-VEP 跨機構星系圖，實時遙測穩定於 26.1 μs In-Band。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▶ [00:15 - 00:50] Track 03: 醫療保險 MediGuard VEP (按3個鈕)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▶ 一鍵合規理賠 (18項PHI遮蔽) ➔ 💥 模擬越獄 (26.1μs硬熔斷) ➔ 📜 Merkle收據 + O(1) 撤銷。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▶ [00:50 - 01:25] Track 04: 政府跨機關代辦 GovProxy VEP (按3個鈕)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▶ 跨機關合規代辦 (MyData+vLEI) ➔ 💥 越權調閱全戶日誌 (HTTP 403熔斷) ➔ 📜 W3C憑證 + 廢止代理。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▶ [01:25 - 01:30] 終端機極速單元測試驗證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執行 python test_verification_suite.py ➔ 0.001 秒 5/5 斷言全數通過！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CROSS-INDUSTRY SUBSTRATE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六大產業異質場景：共用同一套確定性治理核心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328416" cy="2377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🏭 Track 01 製造碳護照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遮蔽 BOM 原料與良率</a:t>
            </a:r>
            <a:br/>
            <a:r>
              <a:t>• 僅放行歐盟 CBAM 碳足跡 ZKP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280160"/>
            <a:ext cx="3328416" cy="2377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300" b="1">
                <a:solidFill>
                  <a:srgbClr val="4ADE80"/>
                </a:solidFill>
              </a:defRPr>
            </a:pPr>
            <a:r>
              <a:t>💳 Track 02 電支 AML 風控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去識別化密態行為特徵圖</a:t>
            </a:r>
            <a:br/>
            <a:r>
              <a:t>• 異常支付微秒阻斷 + 雙簽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19872" y="1280160"/>
            <a:ext cx="3328416" cy="2377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300" b="1">
                <a:solidFill>
                  <a:srgbClr val="F87171"/>
                </a:solidFill>
              </a:defRPr>
            </a:pPr>
            <a:r>
              <a:t>🏥 Track 03 醫療保險理賠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18項 PHI 敏感個資動態遮蔽</a:t>
            </a:r>
            <a:br/>
            <a:r>
              <a:t>• 對接壽險公會理賠聯盟鏈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3328416" cy="2377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300" b="1">
                <a:solidFill>
                  <a:srgbClr val="FBBF24"/>
                </a:solidFill>
              </a:defRPr>
            </a:pPr>
            <a:r>
              <a:t>🏛️ Track 04 政府跨機關代辦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MyData + vLEI 雙軌授權</a:t>
            </a:r>
            <a:br/>
            <a:r>
              <a:t>• 代查/代送/本人三層邊界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3931920"/>
            <a:ext cx="3328416" cy="2377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300" b="1">
                <a:solidFill>
                  <a:srgbClr val="C084FC"/>
                </a:solidFill>
              </a:defRPr>
            </a:pPr>
            <a:r>
              <a:t>🌏 Track 05 移工普惠金融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87萬移工 1:1:1 複合綁定</a:t>
            </a:r>
            <a:br/>
            <a:r>
              <a:t>• SIM Swap 異常連鎖凍結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3931920"/>
            <a:ext cx="3328416" cy="237744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📦 Track 06 供應鏈 RBA 稽核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• 雇主付費 Merkle 存證</a:t>
            </a:r>
            <a:br/>
            <a:r>
              <a:t>• 採購越權零容忍物理攔截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VERIFICATION &amp; PATENT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客觀工程指標、官方生態整合與學術三部曲背書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521208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500" b="1">
                <a:solidFill>
                  <a:srgbClr val="4ADE80"/>
                </a:solidFill>
              </a:defRPr>
            </a:pPr>
            <a:r>
              <a:t>⚡ 100% 可重現之硬核工程指標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0.001 秒極速測試：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自動化驗證套件 5/5 斷言全數通過 (100% Verifiable)。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26.1 μs 執行期延遲：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微秒級二進位 C-ABI 門閥，零網路往返開銷。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Zero-Heap 記憶體架構：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暫存器級 Capability Bitmaps，無 GC 停頓，高頻穩健存活。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O(1) 常數時間動態撤銷：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RCU 原子指針秒級切換，授權作廢立即生效。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8095" y="1280160"/>
            <a:ext cx="5212080" cy="50292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1500" b="1">
                <a:solidFill>
                  <a:srgbClr val="38BDF8"/>
                </a:solidFill>
              </a:defRPr>
            </a:pPr>
            <a:r>
              <a:t>📜 官方生態對齊與學術專利背書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GLEIF vLEI 官方沙盒：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原生對接 ISO 17442-1/-2/-3 法人身分與角色憑證。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moda MyData 模組：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符合數位發展部公民自主授權架構。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壽險公會理賠聯盟鏈：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跨產業 EHR 18 項 PHI 動態遮蔽與 ZKP 條款合規。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Zenodo 權威論文三部曲：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DOI: 10.5281/zenodo.21833970, 22092008, 21903687。</a:t>
            </a:r>
          </a:p>
          <a:p>
            <a:pPr>
              <a:defRPr sz="1300" b="1">
                <a:solidFill>
                  <a:srgbClr val="F8FAFC"/>
                </a:solidFill>
              </a:defRPr>
            </a:pPr>
            <a:r>
              <a:t>• 美國臨時專利保護：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   U.S. PPA No. 64/111,973 (Patent Pending)。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● CONCLUSION</a:t>
            </a:r>
          </a:p>
          <a:p>
            <a:pPr>
              <a:defRPr sz="2200" b="1">
                <a:solidFill>
                  <a:srgbClr val="F8FAFC"/>
                </a:solidFill>
              </a:defRPr>
            </a:pPr>
            <a:r>
              <a:t>範式轉移：從 Application Toolkit 到 Agent Operating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182880"/>
          <a:lstStyle/>
          <a:p>
            <a:pPr algn="ctr">
              <a:defRPr sz="2000" b="1">
                <a:solidFill>
                  <a:srgbClr val="38BDF8"/>
                </a:solidFill>
              </a:defRPr>
            </a:pPr>
            <a:r>
              <a:t>🏆 DROS: 讓治理成為底座，讓 AI 應用海闊天空</a:t>
            </a:r>
          </a:p>
          <a:p>
            <a:pPr>
              <a:defRPr sz="1500" b="1">
                <a:solidFill>
                  <a:srgbClr val="F8FAFC"/>
                </a:solidFill>
              </a:defRPr>
            </a:pPr>
            <a:r>
              <a:t>▶ 我們不是再做一個 Agent，也不是再做一套應用層安全工具。</a:t>
            </a:r>
          </a:p>
          <a:p>
            <a:pPr>
              <a:defRPr sz="1400" b="0">
                <a:solidFill>
                  <a:srgbClr val="4ADE80"/>
                </a:solidFill>
              </a:defRPr>
            </a:pPr>
            <a:r>
              <a:t>▶ 我們做的是把 Agent Governance 從每個應用都必須重新解決的問題，收斂成一個共享的 Execution Infrastructure。</a:t>
            </a:r>
          </a:p>
          <a:p>
            <a:pPr>
              <a:defRPr sz="1400" b="0">
                <a:solidFill>
                  <a:srgbClr val="FBBF24"/>
                </a:solidFill>
              </a:defRPr>
            </a:pPr>
            <a:r>
              <a:t>▶ 讓開發者專注於：「Agent 要完成什麼」；而不是每一次都重新思考：「Agent 做錯了，我怎麼阻止它」。</a:t>
            </a:r>
          </a:p>
          <a:p>
            <a:pPr>
              <a:defRPr sz="1600" b="1">
                <a:solidFill>
                  <a:srgbClr val="F8FAFC"/>
                </a:solidFill>
              </a:defRPr>
            </a:pPr>
            <a:r>
              <a:t>▶ 「治理是前提，而不是補丁；唯有底層確定性閉環，面對海量高頻穩健存活，上層應用才真正海闊天空！」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